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536" r:id="rId3"/>
    <p:sldId id="12982" r:id="rId5"/>
    <p:sldId id="12983" r:id="rId6"/>
    <p:sldId id="12984" r:id="rId7"/>
    <p:sldId id="12985" r:id="rId8"/>
    <p:sldId id="12715" r:id="rId9"/>
    <p:sldId id="538" r:id="rId10"/>
    <p:sldId id="12718" r:id="rId11"/>
    <p:sldId id="12709" r:id="rId12"/>
    <p:sldId id="12758" r:id="rId13"/>
    <p:sldId id="12716" r:id="rId14"/>
    <p:sldId id="12757" r:id="rId15"/>
    <p:sldId id="12759" r:id="rId16"/>
    <p:sldId id="519" r:id="rId17"/>
  </p:sldIdLst>
  <p:sldSz cx="11887200" cy="4663440" type="custom"/>
  <p:notesSz cx="6858000" cy="9144000"/>
  <p:custDataLst>
    <p:tags r:id="rId23"/>
  </p:custDataLst>
  <p:defaultTextStyle>
    <ns2:defPPr>
      <ns2:defRPr lang="zh-CN"/>
    </ns2:defPPr>
    <ns2:lvl1pPr algn="l" defTabSz="914400" eaLnBrk="1" hangingPunct="1" latinLnBrk="0" marL="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1pPr>
    <ns2:lvl2pPr algn="l" defTabSz="914400" eaLnBrk="1" hangingPunct="1" latinLnBrk="0" marL="457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2pPr>
    <ns2:lvl3pPr algn="l" defTabSz="914400" eaLnBrk="1" hangingPunct="1" latinLnBrk="0" marL="914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3pPr>
    <ns2:lvl4pPr algn="l" defTabSz="914400" eaLnBrk="1" hangingPunct="1" latinLnBrk="0" marL="1371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4pPr>
    <ns2:lvl5pPr algn="l" defTabSz="914400" eaLnBrk="1" hangingPunct="1" latinLnBrk="0" marL="18288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5pPr>
    <ns2:lvl6pPr algn="l" defTabSz="914400" eaLnBrk="1" hangingPunct="1" latinLnBrk="0" marL="22860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6pPr>
    <ns2:lvl7pPr algn="l" defTabSz="914400" eaLnBrk="1" hangingPunct="1" latinLnBrk="0" marL="2743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7pPr>
    <ns2:lvl8pPr algn="l" defTabSz="914400" eaLnBrk="1" hangingPunct="1" latinLnBrk="0" marL="3200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8pPr>
    <ns2:lvl9pPr algn="l" defTabSz="914400" eaLnBrk="1" hangingPunct="1" latinLnBrk="0" marL="3657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FEF"/>
    <a:srgbClr val="56CBF5"/>
    <a:srgbClr val="000000"/>
    <a:srgbClr val="8CB140"/>
    <a:srgbClr val="2BC3B6"/>
    <a:srgbClr val="88E8D6"/>
    <a:srgbClr val="6CE2CC"/>
    <a:srgbClr val="CBF5ED"/>
    <a:srgbClr val="9AC248"/>
    <a:srgbClr val="C43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5" autoAdjust="0"/>
    <p:restoredTop sz="85638" autoAdjust="0"/>
  </p:normalViewPr>
  <p:slideViewPr>
    <p:cSldViewPr>
      <p:cViewPr varScale="1">
        <p:scale>
          <a:sx n="57" d="100"/>
          <a:sy n="57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>
        <p:scale>
          <a:sx n="100" d="100"/>
          <a:sy n="100" d="100"/>
        </p:scale>
        <p:origin x="163" y="-1646"/>
      </p:cViewPr>
      <p:guideLst>
        <p:guide orient="horz" pos="2898"/>
        <p:guide pos="2160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9" Target="slides/slide6.xml" Type="http://schemas.openxmlformats.org/officeDocument/2006/relationships/slide" /><Relationship Id="rId8" Target="slides/slide5.xml" Type="http://schemas.openxmlformats.org/officeDocument/2006/relationships/slide" /><Relationship Id="rId7" Target="slides/slide4.xml" Type="http://schemas.openxmlformats.org/officeDocument/2006/relationships/slide" /><Relationship Id="rId6" Target="slides/slide3.xml" Type="http://schemas.openxmlformats.org/officeDocument/2006/relationships/slide" /><Relationship Id="rId5" Target="slides/slide2.xml" Type="http://schemas.openxmlformats.org/officeDocument/2006/relationships/slide" /><Relationship Id="rId4" Target="notesMasters/notesMaster1.xml" Type="http://schemas.openxmlformats.org/officeDocument/2006/relationships/notesMaster" /><Relationship Id="rId3" Target="slides/slide1.xml" Type="http://schemas.openxmlformats.org/officeDocument/2006/relationships/slide" /><Relationship Id="rId23" Target="tags/tag35.xml" Type="http://schemas.openxmlformats.org/officeDocument/2006/relationships/tags" /><Relationship Id="rId22" Target="tableStyles.xml" Type="http://schemas.openxmlformats.org/officeDocument/2006/relationships/tableStyles" /><Relationship Id="rId21" Target="viewProps.xml" Type="http://schemas.openxmlformats.org/officeDocument/2006/relationships/viewProps" /><Relationship Id="rId20" Target="presProps.xml" Type="http://schemas.openxmlformats.org/officeDocument/2006/relationships/presProps" /><Relationship Id="rId2" Target="theme/theme1.xml" Type="http://schemas.openxmlformats.org/officeDocument/2006/relationships/theme" /><Relationship Id="rId19" Target="handoutMasters/handoutMaster1.xml" Type="http://schemas.openxmlformats.org/officeDocument/2006/relationships/handoutMaster" /><Relationship Id="rId17" Target="slides/slide14.xml" Type="http://schemas.openxmlformats.org/officeDocument/2006/relationships/slide" /><Relationship Id="rId16" Target="slides/slide13.xml" Type="http://schemas.openxmlformats.org/officeDocument/2006/relationships/slide" /><Relationship Id="rId15" Target="slides/slide12.xml" Type="http://schemas.openxmlformats.org/officeDocument/2006/relationships/slide" /><Relationship Id="rId14" Target="slides/slide11.xml" Type="http://schemas.openxmlformats.org/officeDocument/2006/relationships/slide" /><Relationship Id="rId13" Target="slides/slide10.xml" Type="http://schemas.openxmlformats.org/officeDocument/2006/relationships/slide" /><Relationship Id="rId12" Target="slides/slide9.xml" Type="http://schemas.openxmlformats.org/officeDocument/2006/relationships/slide" /><Relationship Id="rId11" Target="slides/slide8.xml" Type="http://schemas.openxmlformats.org/officeDocument/2006/relationships/slide" /><Relationship Id="rId10" Target="slides/slide7.xml" Type="http://schemas.openxmlformats.org/officeDocument/2006/relationships/slide" /><Relationship Id="rId1" Target="slideMasters/slideMaster1.xml" Type="http://schemas.openxmlformats.org/officeDocument/2006/relationships/slideMaster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BA9B2-8949-4466-BDE7-ACF0FE2D53C6}" type="doc">
      <dgm:prSet loTypeId="urn:microsoft.com/office/officeart/2005/8/layout/hProcess11" loCatId="process" qsTypeId="urn:microsoft.com/office/officeart/2005/8/quickstyle/simple2" qsCatId="simple" csTypeId="urn:microsoft.com/office/officeart/2005/8/colors/accent2_1" csCatId="accent1"/>
      <dgm:spPr/>
      <dgm:t>
        <a:bodyPr/>
        <a:lstStyle/>
        <a:p>
          <a:endParaRPr lang="zh-CN" altLang="en-US"/>
        </a:p>
      </dgm:t>
    </dgm:pt>
    <dgm:pt modelId="{A7460D7E-32C9-4007-AEB1-D3752FE1FA79}">
      <dgm:prSet/>
      <dgm:spPr/>
      <dgm:t>
        <a:bodyPr/>
        <a:lstStyle/>
        <a:p>
          <a:r>
            <a:rPr lang="en-US"/>
            <a:t>1.</a:t>
          </a:r>
          <a:endParaRPr lang="zh-CN"/>
        </a:p>
      </dgm:t>
    </dgm:pt>
    <dgm:pt modelId="{2D3A6497-6EBC-4BA0-91AD-96E8D17D2E1B}" cxnId="{5CF4E386-4661-4134-B8E4-4DE221D5E725}" type="parTrans">
      <dgm:prSet/>
      <dgm:spPr/>
      <dgm:t>
        <a:bodyPr/>
        <a:lstStyle/>
        <a:p>
          <a:endParaRPr lang="zh-CN" altLang="en-US"/>
        </a:p>
      </dgm:t>
    </dgm:pt>
    <dgm:pt modelId="{FA3B0EA8-DBCD-46D3-8BAC-7EFEE76F54E9}" cxnId="{5CF4E386-4661-4134-B8E4-4DE221D5E725}" type="sibTrans">
      <dgm:prSet/>
      <dgm:spPr/>
      <dgm:t>
        <a:bodyPr/>
        <a:lstStyle/>
        <a:p>
          <a:endParaRPr lang="zh-CN" altLang="en-US"/>
        </a:p>
      </dgm:t>
    </dgm:pt>
    <dgm:pt modelId="{F9B3D9E7-3667-4FED-8BD0-926D128F618B}">
      <dgm:prSet/>
      <dgm:spPr/>
      <dgm:t>
        <a:bodyPr/>
        <a:lstStyle/>
        <a:p>
          <a:r>
            <a:rPr lang="en-US"/>
            <a:t>2.</a:t>
          </a:r>
          <a:endParaRPr lang="zh-CN"/>
        </a:p>
      </dgm:t>
    </dgm:pt>
    <dgm:pt modelId="{9AE6DAFC-90C2-4DC3-A3A5-63C7013D2891}" cxnId="{DF2F6E42-2212-4DBA-B71B-2F7B26A21E10}" type="parTrans">
      <dgm:prSet/>
      <dgm:spPr/>
      <dgm:t>
        <a:bodyPr/>
        <a:lstStyle/>
        <a:p>
          <a:endParaRPr lang="zh-CN" altLang="en-US"/>
        </a:p>
      </dgm:t>
    </dgm:pt>
    <dgm:pt modelId="{EDA9E98D-C5B3-4941-8AD5-848ABE252135}" cxnId="{DF2F6E42-2212-4DBA-B71B-2F7B26A21E10}" type="sibTrans">
      <dgm:prSet/>
      <dgm:spPr/>
      <dgm:t>
        <a:bodyPr/>
        <a:lstStyle/>
        <a:p>
          <a:endParaRPr lang="zh-CN" altLang="en-US"/>
        </a:p>
      </dgm:t>
    </dgm:pt>
    <dgm:pt modelId="{47729E99-E5F8-4F88-8CD0-EA7589DBE801}">
      <dgm:prSet/>
      <dgm:spPr/>
      <dgm:t>
        <a:bodyPr/>
        <a:lstStyle/>
        <a:p>
          <a:r>
            <a:rPr lang="en-US"/>
            <a:t>3.</a:t>
          </a:r>
          <a:endParaRPr lang="zh-CN"/>
        </a:p>
      </dgm:t>
    </dgm:pt>
    <dgm:pt modelId="{8EABFA25-0359-4AB7-950A-6C922AD634BC}" cxnId="{A055CA8D-8DBF-405E-B023-33BF60BD82BA}" type="parTrans">
      <dgm:prSet/>
      <dgm:spPr/>
      <dgm:t>
        <a:bodyPr/>
        <a:lstStyle/>
        <a:p>
          <a:endParaRPr lang="zh-CN" altLang="en-US"/>
        </a:p>
      </dgm:t>
    </dgm:pt>
    <dgm:pt modelId="{807CA5E5-63CA-4060-A897-49EF94C459EF}" cxnId="{A055CA8D-8DBF-405E-B023-33BF60BD82BA}" type="sibTrans">
      <dgm:prSet/>
      <dgm:spPr/>
      <dgm:t>
        <a:bodyPr/>
        <a:lstStyle/>
        <a:p>
          <a:endParaRPr lang="zh-CN" altLang="en-US"/>
        </a:p>
      </dgm:t>
    </dgm:pt>
    <dgm:pt modelId="{A436AB37-782C-4F62-94CE-4B90A492B324}">
      <dgm:prSet/>
      <dgm:spPr/>
      <dgm:t>
        <a:bodyPr/>
        <a:lstStyle/>
        <a:p>
          <a:r>
            <a:rPr lang="en-US"/>
            <a:t>4.</a:t>
          </a:r>
          <a:endParaRPr lang="zh-CN"/>
        </a:p>
      </dgm:t>
    </dgm:pt>
    <dgm:pt modelId="{CC6957CC-AB6F-4F4E-823A-0E70ADEC3E11}" cxnId="{DA8DBAD0-D53E-432E-A0EC-B311C9C304DB}" type="parTrans">
      <dgm:prSet/>
      <dgm:spPr/>
      <dgm:t>
        <a:bodyPr/>
        <a:lstStyle/>
        <a:p>
          <a:endParaRPr lang="zh-CN" altLang="en-US"/>
        </a:p>
      </dgm:t>
    </dgm:pt>
    <dgm:pt modelId="{DE275B41-4459-4345-B547-1A655512B4C4}" cxnId="{DA8DBAD0-D53E-432E-A0EC-B311C9C304DB}" type="sibTrans">
      <dgm:prSet/>
      <dgm:spPr/>
      <dgm:t>
        <a:bodyPr/>
        <a:lstStyle/>
        <a:p>
          <a:endParaRPr lang="zh-CN" altLang="en-US"/>
        </a:p>
      </dgm:t>
    </dgm:pt>
    <dgm:pt modelId="{0152353A-B6AE-4CCD-92A6-55D91DB71347}" type="pres">
      <dgm:prSet presAssocID="{9ABBA9B2-8949-4466-BDE7-ACF0FE2D53C6}" presName="Name0" presStyleCnt="0">
        <dgm:presLayoutVars>
          <dgm:dir/>
          <dgm:resizeHandles val="exact"/>
        </dgm:presLayoutVars>
      </dgm:prSet>
      <dgm:spPr/>
    </dgm:pt>
    <dgm:pt modelId="{F51D4F41-C06B-405E-84D3-6A7B1688C342}" type="pres">
      <dgm:prSet presAssocID="{9ABBA9B2-8949-4466-BDE7-ACF0FE2D53C6}" presName="arrow" presStyleLbl="bgShp" presStyleIdx="0" presStyleCnt="1"/>
      <dgm:spPr/>
    </dgm:pt>
    <dgm:pt modelId="{ABAC5EED-A36C-4697-A014-555AC6B2AF5F}" type="pres">
      <dgm:prSet presAssocID="{9ABBA9B2-8949-4466-BDE7-ACF0FE2D53C6}" presName="points" presStyleCnt="0"/>
      <dgm:spPr/>
    </dgm:pt>
    <dgm:pt modelId="{6BBBA6D8-B879-4B79-AFD1-3C54DEEAD487}" type="pres">
      <dgm:prSet presAssocID="{A7460D7E-32C9-4007-AEB1-D3752FE1FA79}" presName="compositeA" presStyleCnt="0"/>
      <dgm:spPr/>
    </dgm:pt>
    <dgm:pt modelId="{2626C280-52F5-42A4-8192-1A899A58E8B8}" type="pres">
      <dgm:prSet presAssocID="{A7460D7E-32C9-4007-AEB1-D3752FE1FA79}" presName="textA" presStyleLbl="revTx" presStyleIdx="0" presStyleCnt="4">
        <dgm:presLayoutVars>
          <dgm:bulletEnabled val="1"/>
        </dgm:presLayoutVars>
      </dgm:prSet>
      <dgm:spPr/>
    </dgm:pt>
    <dgm:pt modelId="{D022BCD6-216A-498E-9E4A-EF08E4F4404E}" type="pres">
      <dgm:prSet presAssocID="{A7460D7E-32C9-4007-AEB1-D3752FE1FA79}" presName="circleA" presStyleLbl="node1" presStyleIdx="0" presStyleCnt="4"/>
      <dgm:spPr/>
    </dgm:pt>
    <dgm:pt modelId="{5B7F8F88-47D4-4794-8606-26FA6BFBB608}" type="pres">
      <dgm:prSet presAssocID="{A7460D7E-32C9-4007-AEB1-D3752FE1FA79}" presName="spaceA" presStyleCnt="0"/>
      <dgm:spPr/>
    </dgm:pt>
    <dgm:pt modelId="{2392E3CB-B3CD-41BD-833A-1C4A9F76DBD0}" type="pres">
      <dgm:prSet presAssocID="{FA3B0EA8-DBCD-46D3-8BAC-7EFEE76F54E9}" presName="space" presStyleCnt="0"/>
      <dgm:spPr/>
    </dgm:pt>
    <dgm:pt modelId="{497E2570-23A0-4E15-95BD-F5EBA3DB2BAC}" type="pres">
      <dgm:prSet presAssocID="{F9B3D9E7-3667-4FED-8BD0-926D128F618B}" presName="compositeB" presStyleCnt="0"/>
      <dgm:spPr/>
    </dgm:pt>
    <dgm:pt modelId="{E23D3ECF-6A1F-4DA1-902A-28EB5240FCB3}" type="pres">
      <dgm:prSet presAssocID="{F9B3D9E7-3667-4FED-8BD0-926D128F618B}" presName="textB" presStyleLbl="revTx" presStyleIdx="1" presStyleCnt="4">
        <dgm:presLayoutVars>
          <dgm:bulletEnabled val="1"/>
        </dgm:presLayoutVars>
      </dgm:prSet>
      <dgm:spPr/>
    </dgm:pt>
    <dgm:pt modelId="{BE2881F4-B632-434A-906E-45C436B22D12}" type="pres">
      <dgm:prSet presAssocID="{F9B3D9E7-3667-4FED-8BD0-926D128F618B}" presName="circleB" presStyleLbl="node1" presStyleIdx="1" presStyleCnt="4"/>
      <dgm:spPr/>
    </dgm:pt>
    <dgm:pt modelId="{7F239C6D-0626-45BC-92C2-C192B68C4B4B}" type="pres">
      <dgm:prSet presAssocID="{F9B3D9E7-3667-4FED-8BD0-926D128F618B}" presName="spaceB" presStyleCnt="0"/>
      <dgm:spPr/>
    </dgm:pt>
    <dgm:pt modelId="{CD9558F7-BEA0-4F46-AE1B-D8C2B9A4902B}" type="pres">
      <dgm:prSet presAssocID="{EDA9E98D-C5B3-4941-8AD5-848ABE252135}" presName="space" presStyleCnt="0"/>
      <dgm:spPr/>
    </dgm:pt>
    <dgm:pt modelId="{A31BE83D-49B5-4F4E-9454-261D47434ECC}" type="pres">
      <dgm:prSet presAssocID="{47729E99-E5F8-4F88-8CD0-EA7589DBE801}" presName="compositeA" presStyleCnt="0"/>
      <dgm:spPr/>
    </dgm:pt>
    <dgm:pt modelId="{0B222E9F-609C-45AE-A717-54D902D28DE3}" type="pres">
      <dgm:prSet presAssocID="{47729E99-E5F8-4F88-8CD0-EA7589DBE801}" presName="textA" presStyleLbl="revTx" presStyleIdx="2" presStyleCnt="4">
        <dgm:presLayoutVars>
          <dgm:bulletEnabled val="1"/>
        </dgm:presLayoutVars>
      </dgm:prSet>
      <dgm:spPr/>
    </dgm:pt>
    <dgm:pt modelId="{AA8F8E92-BD4E-4D5E-BF95-08F8F347C4D8}" type="pres">
      <dgm:prSet presAssocID="{47729E99-E5F8-4F88-8CD0-EA7589DBE801}" presName="circleA" presStyleLbl="node1" presStyleIdx="2" presStyleCnt="4"/>
      <dgm:spPr/>
    </dgm:pt>
    <dgm:pt modelId="{CB05B4D8-DBB3-4F85-978A-11DCE22E5BF4}" type="pres">
      <dgm:prSet presAssocID="{47729E99-E5F8-4F88-8CD0-EA7589DBE801}" presName="spaceA" presStyleCnt="0"/>
      <dgm:spPr/>
    </dgm:pt>
    <dgm:pt modelId="{86B3BF3B-0D45-41C2-8181-1DBF5D873281}" type="pres">
      <dgm:prSet presAssocID="{807CA5E5-63CA-4060-A897-49EF94C459EF}" presName="space" presStyleCnt="0"/>
      <dgm:spPr/>
    </dgm:pt>
    <dgm:pt modelId="{43C9A8EB-D43B-465D-8D52-24FED5873CEC}" type="pres">
      <dgm:prSet presAssocID="{A436AB37-782C-4F62-94CE-4B90A492B324}" presName="compositeB" presStyleCnt="0"/>
      <dgm:spPr/>
    </dgm:pt>
    <dgm:pt modelId="{78282508-2FAA-442D-8CC7-77D2521517F4}" type="pres">
      <dgm:prSet presAssocID="{A436AB37-782C-4F62-94CE-4B90A492B324}" presName="textB" presStyleLbl="revTx" presStyleIdx="3" presStyleCnt="4">
        <dgm:presLayoutVars>
          <dgm:bulletEnabled val="1"/>
        </dgm:presLayoutVars>
      </dgm:prSet>
      <dgm:spPr/>
    </dgm:pt>
    <dgm:pt modelId="{13FB0539-0E98-4DC6-954A-D0EF7F622C02}" type="pres">
      <dgm:prSet presAssocID="{A436AB37-782C-4F62-94CE-4B90A492B324}" presName="circleB" presStyleLbl="node1" presStyleIdx="3" presStyleCnt="4"/>
      <dgm:spPr/>
    </dgm:pt>
    <dgm:pt modelId="{5B8933C9-F415-4555-BC23-3DA1179FB497}" type="pres">
      <dgm:prSet presAssocID="{A436AB37-782C-4F62-94CE-4B90A492B324}" presName="spaceB" presStyleCnt="0"/>
      <dgm:spPr/>
    </dgm:pt>
  </dgm:ptLst>
  <dgm:cxnLst>
    <dgm:cxn modelId="{6250D12C-4861-4CD4-AFE9-8F9C0553AA75}" type="presOf" srcId="{9ABBA9B2-8949-4466-BDE7-ACF0FE2D53C6}" destId="{0152353A-B6AE-4CCD-92A6-55D91DB71347}" srcOrd="0" destOrd="0" presId="urn:microsoft.com/office/officeart/2005/8/layout/hProcess11"/>
    <dgm:cxn modelId="{588A1762-26B7-4E73-9C70-AF7B0C0846CA}" type="presOf" srcId="{47729E99-E5F8-4F88-8CD0-EA7589DBE801}" destId="{0B222E9F-609C-45AE-A717-54D902D28DE3}" srcOrd="0" destOrd="0" presId="urn:microsoft.com/office/officeart/2005/8/layout/hProcess11"/>
    <dgm:cxn modelId="{DF2F6E42-2212-4DBA-B71B-2F7B26A21E10}" srcId="{9ABBA9B2-8949-4466-BDE7-ACF0FE2D53C6}" destId="{F9B3D9E7-3667-4FED-8BD0-926D128F618B}" srcOrd="1" destOrd="0" parTransId="{9AE6DAFC-90C2-4DC3-A3A5-63C7013D2891}" sibTransId="{EDA9E98D-C5B3-4941-8AD5-848ABE252135}"/>
    <dgm:cxn modelId="{5CF4E386-4661-4134-B8E4-4DE221D5E725}" srcId="{9ABBA9B2-8949-4466-BDE7-ACF0FE2D53C6}" destId="{A7460D7E-32C9-4007-AEB1-D3752FE1FA79}" srcOrd="0" destOrd="0" parTransId="{2D3A6497-6EBC-4BA0-91AD-96E8D17D2E1B}" sibTransId="{FA3B0EA8-DBCD-46D3-8BAC-7EFEE76F54E9}"/>
    <dgm:cxn modelId="{A055CA8D-8DBF-405E-B023-33BF60BD82BA}" srcId="{9ABBA9B2-8949-4466-BDE7-ACF0FE2D53C6}" destId="{47729E99-E5F8-4F88-8CD0-EA7589DBE801}" srcOrd="2" destOrd="0" parTransId="{8EABFA25-0359-4AB7-950A-6C922AD634BC}" sibTransId="{807CA5E5-63CA-4060-A897-49EF94C459EF}"/>
    <dgm:cxn modelId="{2A7E5B90-499B-42D9-ABCD-0520968AA644}" type="presOf" srcId="{A7460D7E-32C9-4007-AEB1-D3752FE1FA79}" destId="{2626C280-52F5-42A4-8192-1A899A58E8B8}" srcOrd="0" destOrd="0" presId="urn:microsoft.com/office/officeart/2005/8/layout/hProcess11"/>
    <dgm:cxn modelId="{99BC40A9-7435-4D0E-A7EB-85B10DEE7BDD}" type="presOf" srcId="{A436AB37-782C-4F62-94CE-4B90A492B324}" destId="{78282508-2FAA-442D-8CC7-77D2521517F4}" srcOrd="0" destOrd="0" presId="urn:microsoft.com/office/officeart/2005/8/layout/hProcess11"/>
    <dgm:cxn modelId="{EB825BB1-6B97-4265-8E29-A86275742F57}" type="presOf" srcId="{F9B3D9E7-3667-4FED-8BD0-926D128F618B}" destId="{E23D3ECF-6A1F-4DA1-902A-28EB5240FCB3}" srcOrd="0" destOrd="0" presId="urn:microsoft.com/office/officeart/2005/8/layout/hProcess11"/>
    <dgm:cxn modelId="{DA8DBAD0-D53E-432E-A0EC-B311C9C304DB}" srcId="{9ABBA9B2-8949-4466-BDE7-ACF0FE2D53C6}" destId="{A436AB37-782C-4F62-94CE-4B90A492B324}" srcOrd="3" destOrd="0" parTransId="{CC6957CC-AB6F-4F4E-823A-0E70ADEC3E11}" sibTransId="{DE275B41-4459-4345-B547-1A655512B4C4}"/>
    <dgm:cxn modelId="{BB221E6F-70B9-452E-82BF-B6A6C6F90F3B}" type="presParOf" srcId="{0152353A-B6AE-4CCD-92A6-55D91DB71347}" destId="{F51D4F41-C06B-405E-84D3-6A7B1688C342}" srcOrd="0" destOrd="0" presId="urn:microsoft.com/office/officeart/2005/8/layout/hProcess11"/>
    <dgm:cxn modelId="{2BE36ACB-A510-4B1E-A6F1-E7399EB86145}" type="presParOf" srcId="{0152353A-B6AE-4CCD-92A6-55D91DB71347}" destId="{ABAC5EED-A36C-4697-A014-555AC6B2AF5F}" srcOrd="1" destOrd="0" presId="urn:microsoft.com/office/officeart/2005/8/layout/hProcess11"/>
    <dgm:cxn modelId="{00584FD6-F192-4ED7-B958-D8AE1B469CA0}" type="presParOf" srcId="{ABAC5EED-A36C-4697-A014-555AC6B2AF5F}" destId="{6BBBA6D8-B879-4B79-AFD1-3C54DEEAD487}" srcOrd="0" destOrd="0" presId="urn:microsoft.com/office/officeart/2005/8/layout/hProcess11"/>
    <dgm:cxn modelId="{03BC58EE-1698-4F90-8BF1-DE40981F6E9D}" type="presParOf" srcId="{6BBBA6D8-B879-4B79-AFD1-3C54DEEAD487}" destId="{2626C280-52F5-42A4-8192-1A899A58E8B8}" srcOrd="0" destOrd="0" presId="urn:microsoft.com/office/officeart/2005/8/layout/hProcess11"/>
    <dgm:cxn modelId="{F090AC2D-5686-4D7B-ADF3-CB45B432B0C9}" type="presParOf" srcId="{6BBBA6D8-B879-4B79-AFD1-3C54DEEAD487}" destId="{D022BCD6-216A-498E-9E4A-EF08E4F4404E}" srcOrd="1" destOrd="0" presId="urn:microsoft.com/office/officeart/2005/8/layout/hProcess11"/>
    <dgm:cxn modelId="{0F769C42-B3B8-48D8-8C93-23B5525981AF}" type="presParOf" srcId="{6BBBA6D8-B879-4B79-AFD1-3C54DEEAD487}" destId="{5B7F8F88-47D4-4794-8606-26FA6BFBB608}" srcOrd="2" destOrd="0" presId="urn:microsoft.com/office/officeart/2005/8/layout/hProcess11"/>
    <dgm:cxn modelId="{B30B8D45-E1C2-4349-8088-E780C50F162F}" type="presParOf" srcId="{ABAC5EED-A36C-4697-A014-555AC6B2AF5F}" destId="{2392E3CB-B3CD-41BD-833A-1C4A9F76DBD0}" srcOrd="1" destOrd="0" presId="urn:microsoft.com/office/officeart/2005/8/layout/hProcess11"/>
    <dgm:cxn modelId="{D5A9AF4C-A23D-4B98-A628-A56D8F2C2DE9}" type="presParOf" srcId="{ABAC5EED-A36C-4697-A014-555AC6B2AF5F}" destId="{497E2570-23A0-4E15-95BD-F5EBA3DB2BAC}" srcOrd="2" destOrd="0" presId="urn:microsoft.com/office/officeart/2005/8/layout/hProcess11"/>
    <dgm:cxn modelId="{43DCD66D-08E1-4FEE-89A5-45E481489A7F}" type="presParOf" srcId="{497E2570-23A0-4E15-95BD-F5EBA3DB2BAC}" destId="{E23D3ECF-6A1F-4DA1-902A-28EB5240FCB3}" srcOrd="0" destOrd="0" presId="urn:microsoft.com/office/officeart/2005/8/layout/hProcess11"/>
    <dgm:cxn modelId="{2F1CE07F-9449-438B-A4AC-C2D8CFDD3163}" type="presParOf" srcId="{497E2570-23A0-4E15-95BD-F5EBA3DB2BAC}" destId="{BE2881F4-B632-434A-906E-45C436B22D12}" srcOrd="1" destOrd="0" presId="urn:microsoft.com/office/officeart/2005/8/layout/hProcess11"/>
    <dgm:cxn modelId="{EF150F0F-7038-406B-80E1-5F75B3BC62E5}" type="presParOf" srcId="{497E2570-23A0-4E15-95BD-F5EBA3DB2BAC}" destId="{7F239C6D-0626-45BC-92C2-C192B68C4B4B}" srcOrd="2" destOrd="0" presId="urn:microsoft.com/office/officeart/2005/8/layout/hProcess11"/>
    <dgm:cxn modelId="{EF94024E-5DEC-4151-A58E-5AF7F0DCF258}" type="presParOf" srcId="{ABAC5EED-A36C-4697-A014-555AC6B2AF5F}" destId="{CD9558F7-BEA0-4F46-AE1B-D8C2B9A4902B}" srcOrd="3" destOrd="0" presId="urn:microsoft.com/office/officeart/2005/8/layout/hProcess11"/>
    <dgm:cxn modelId="{0E0AAB67-08DE-48E3-B024-946CACC5C309}" type="presParOf" srcId="{ABAC5EED-A36C-4697-A014-555AC6B2AF5F}" destId="{A31BE83D-49B5-4F4E-9454-261D47434ECC}" srcOrd="4" destOrd="0" presId="urn:microsoft.com/office/officeart/2005/8/layout/hProcess11"/>
    <dgm:cxn modelId="{AF55B82D-FC36-4104-A388-4277475B136F}" type="presParOf" srcId="{A31BE83D-49B5-4F4E-9454-261D47434ECC}" destId="{0B222E9F-609C-45AE-A717-54D902D28DE3}" srcOrd="0" destOrd="0" presId="urn:microsoft.com/office/officeart/2005/8/layout/hProcess11"/>
    <dgm:cxn modelId="{0E4B9734-AD8A-4B96-8E4D-DC9BC83A3A02}" type="presParOf" srcId="{A31BE83D-49B5-4F4E-9454-261D47434ECC}" destId="{AA8F8E92-BD4E-4D5E-BF95-08F8F347C4D8}" srcOrd="1" destOrd="0" presId="urn:microsoft.com/office/officeart/2005/8/layout/hProcess11"/>
    <dgm:cxn modelId="{234A7742-187B-457F-B763-BE8B6CE8CA34}" type="presParOf" srcId="{A31BE83D-49B5-4F4E-9454-261D47434ECC}" destId="{CB05B4D8-DBB3-4F85-978A-11DCE22E5BF4}" srcOrd="2" destOrd="0" presId="urn:microsoft.com/office/officeart/2005/8/layout/hProcess11"/>
    <dgm:cxn modelId="{754FDF33-0BEC-41D3-A53B-76D6487A8324}" type="presParOf" srcId="{ABAC5EED-A36C-4697-A014-555AC6B2AF5F}" destId="{86B3BF3B-0D45-41C2-8181-1DBF5D873281}" srcOrd="5" destOrd="0" presId="urn:microsoft.com/office/officeart/2005/8/layout/hProcess11"/>
    <dgm:cxn modelId="{DFED36F9-CA7F-493C-9876-FD4E11C807C6}" type="presParOf" srcId="{ABAC5EED-A36C-4697-A014-555AC6B2AF5F}" destId="{43C9A8EB-D43B-465D-8D52-24FED5873CEC}" srcOrd="6" destOrd="0" presId="urn:microsoft.com/office/officeart/2005/8/layout/hProcess11"/>
    <dgm:cxn modelId="{8E719ABA-254F-4A45-A698-90B8C01DD1AB}" type="presParOf" srcId="{43C9A8EB-D43B-465D-8D52-24FED5873CEC}" destId="{78282508-2FAA-442D-8CC7-77D2521517F4}" srcOrd="0" destOrd="0" presId="urn:microsoft.com/office/officeart/2005/8/layout/hProcess11"/>
    <dgm:cxn modelId="{3A6A9F67-D19C-4AD5-BD9C-BBD52565687A}" type="presParOf" srcId="{43C9A8EB-D43B-465D-8D52-24FED5873CEC}" destId="{13FB0539-0E98-4DC6-954A-D0EF7F622C02}" srcOrd="1" destOrd="0" presId="urn:microsoft.com/office/officeart/2005/8/layout/hProcess11"/>
    <dgm:cxn modelId="{FD160221-3C71-4C34-885B-BD4AEAB5BED6}" type="presParOf" srcId="{43C9A8EB-D43B-465D-8D52-24FED5873CEC}" destId="{5B8933C9-F415-4555-BC23-3DA1179FB49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577064" cy="3744416"/>
        <a:chOff x="0" y="0"/>
        <a:chExt cx="9577064" cy="3744416"/>
      </a:xfrm>
    </dsp:grpSpPr>
    <dsp:sp modelId="{F51D4F41-C06B-405E-84D3-6A7B1688C342}">
      <dsp:nvSpPr>
        <dsp:cNvPr id="3" name="燕尾形箭头 2"/>
        <dsp:cNvSpPr/>
      </dsp:nvSpPr>
      <dsp:spPr bwMode="white">
        <a:xfrm>
          <a:off x="0" y="1123325"/>
          <a:ext cx="9577064" cy="1497766"/>
        </a:xfrm>
        <a:prstGeom prst="notchedRightArrow">
          <a:avLst/>
        </a:prstGeom>
      </dsp:spPr>
      <dsp:style>
        <a:lnRef idx="0">
          <a:schemeClr val="accent2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0" y="1123325"/>
        <a:ext cx="9577064" cy="1497766"/>
      </dsp:txXfrm>
    </dsp:sp>
    <dsp:sp modelId="{2626C280-52F5-42A4-8192-1A899A58E8B8}">
      <dsp:nvSpPr>
        <dsp:cNvPr id="4" name="矩形 3"/>
        <dsp:cNvSpPr/>
      </dsp:nvSpPr>
      <dsp:spPr bwMode="white">
        <a:xfrm>
          <a:off x="0" y="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b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1.</a:t>
          </a:r>
          <a:endParaRPr lang="zh-CN">
            <a:solidFill>
              <a:schemeClr val="tx1"/>
            </a:solidFill>
          </a:endParaRPr>
        </a:p>
      </dsp:txBody>
      <dsp:txXfrm>
        <a:off x="0" y="0"/>
        <a:ext cx="2076954" cy="1497766"/>
      </dsp:txXfrm>
    </dsp:sp>
    <dsp:sp modelId="{D022BCD6-216A-498E-9E4A-EF08E4F4404E}">
      <dsp:nvSpPr>
        <dsp:cNvPr id="5" name="椭圆 4"/>
        <dsp:cNvSpPr/>
      </dsp:nvSpPr>
      <dsp:spPr bwMode="white">
        <a:xfrm>
          <a:off x="851256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851256" y="1684987"/>
        <a:ext cx="374442" cy="374442"/>
      </dsp:txXfrm>
    </dsp:sp>
    <dsp:sp modelId="{E23D3ECF-6A1F-4DA1-902A-28EB5240FCB3}">
      <dsp:nvSpPr>
        <dsp:cNvPr id="6" name="矩形 5"/>
        <dsp:cNvSpPr/>
      </dsp:nvSpPr>
      <dsp:spPr bwMode="white">
        <a:xfrm>
          <a:off x="2180801" y="224665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t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2.</a:t>
          </a:r>
          <a:endParaRPr lang="zh-CN">
            <a:solidFill>
              <a:schemeClr val="tx1"/>
            </a:solidFill>
          </a:endParaRPr>
        </a:p>
      </dsp:txBody>
      <dsp:txXfrm>
        <a:off x="2180801" y="2246650"/>
        <a:ext cx="2076954" cy="1497766"/>
      </dsp:txXfrm>
    </dsp:sp>
    <dsp:sp modelId="{BE2881F4-B632-434A-906E-45C436B22D12}">
      <dsp:nvSpPr>
        <dsp:cNvPr id="7" name="椭圆 6"/>
        <dsp:cNvSpPr/>
      </dsp:nvSpPr>
      <dsp:spPr bwMode="white">
        <a:xfrm>
          <a:off x="3032057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3032057" y="1684987"/>
        <a:ext cx="374442" cy="374442"/>
      </dsp:txXfrm>
    </dsp:sp>
    <dsp:sp modelId="{0B222E9F-609C-45AE-A717-54D902D28DE3}">
      <dsp:nvSpPr>
        <dsp:cNvPr id="8" name="矩形 7"/>
        <dsp:cNvSpPr/>
      </dsp:nvSpPr>
      <dsp:spPr bwMode="white">
        <a:xfrm>
          <a:off x="4361603" y="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b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3.</a:t>
          </a:r>
          <a:endParaRPr lang="zh-CN">
            <a:solidFill>
              <a:schemeClr val="tx1"/>
            </a:solidFill>
          </a:endParaRPr>
        </a:p>
      </dsp:txBody>
      <dsp:txXfrm>
        <a:off x="4361603" y="0"/>
        <a:ext cx="2076954" cy="1497766"/>
      </dsp:txXfrm>
    </dsp:sp>
    <dsp:sp modelId="{AA8F8E92-BD4E-4D5E-BF95-08F8F347C4D8}">
      <dsp:nvSpPr>
        <dsp:cNvPr id="9" name="椭圆 8"/>
        <dsp:cNvSpPr/>
      </dsp:nvSpPr>
      <dsp:spPr bwMode="white">
        <a:xfrm>
          <a:off x="5212859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5212859" y="1684987"/>
        <a:ext cx="374442" cy="374442"/>
      </dsp:txXfrm>
    </dsp:sp>
    <dsp:sp modelId="{78282508-2FAA-442D-8CC7-77D2521517F4}">
      <dsp:nvSpPr>
        <dsp:cNvPr id="10" name="矩形 9"/>
        <dsp:cNvSpPr/>
      </dsp:nvSpPr>
      <dsp:spPr bwMode="white">
        <a:xfrm>
          <a:off x="6542404" y="224665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t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4.</a:t>
          </a:r>
          <a:endParaRPr lang="zh-CN">
            <a:solidFill>
              <a:schemeClr val="tx1"/>
            </a:solidFill>
          </a:endParaRPr>
        </a:p>
      </dsp:txBody>
      <dsp:txXfrm>
        <a:off x="6542404" y="2246650"/>
        <a:ext cx="2076954" cy="1497766"/>
      </dsp:txXfrm>
    </dsp:sp>
    <dsp:sp modelId="{13FB0539-0E98-4DC6-954A-D0EF7F622C02}">
      <dsp:nvSpPr>
        <dsp:cNvPr id="11" name="椭圆 10"/>
        <dsp:cNvSpPr/>
      </dsp:nvSpPr>
      <dsp:spPr bwMode="white">
        <a:xfrm>
          <a:off x="7393660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7393660" y="1684987"/>
        <a:ext cx="374442" cy="374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type="notchedRightArrow" r:blip="" rot="180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01EA5-860F-4005-826D-9A3E5AAE21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FE967-13D4-4928-8CA4-8A545C59B2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D8174-63DF-418E-8DC7-C485ED013A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DB36-2A96-4065-B77E-4959C17B8A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/>
              <a:t>1.</a:t>
            </a:r>
            <a:r>
              <a:rPr lang="zh-CN" altLang="en-US" sz="1200" b="1" dirty="0"/>
              <a:t>所用时长：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秒</a:t>
            </a:r>
            <a:endParaRPr lang="en-US" altLang="zh-CN" sz="1200" b="1" dirty="0"/>
          </a:p>
          <a:p>
            <a:r>
              <a:rPr lang="zh-CN" altLang="zh-CN" sz="1200" b="1" dirty="0"/>
              <a:t>2</a:t>
            </a:r>
            <a:r>
              <a:rPr lang="en-US" altLang="zh-CN" sz="1200" b="1" dirty="0"/>
              <a:t>.</a:t>
            </a:r>
            <a:r>
              <a:rPr lang="zh-CN" altLang="en-US" sz="1200" b="1" dirty="0"/>
              <a:t>目标：集中学员注意力，建立师生连结</a:t>
            </a:r>
            <a:endParaRPr lang="en-US" altLang="zh-CN" sz="1200" b="1" dirty="0"/>
          </a:p>
          <a:p>
            <a:r>
              <a:rPr lang="en-US" altLang="zh-CN" sz="1200" b="1" dirty="0"/>
              <a:t>3.</a:t>
            </a:r>
            <a:r>
              <a:rPr lang="zh-CN" altLang="en-US" sz="1200" b="1" dirty="0"/>
              <a:t>讲授流程及步骤：</a:t>
            </a:r>
            <a:endParaRPr lang="en-US" altLang="zh-CN" sz="1200" b="1" dirty="0"/>
          </a:p>
          <a:p>
            <a:r>
              <a:rPr lang="en-US" altLang="zh-CN" sz="1200" b="1" dirty="0"/>
              <a:t>3.1</a:t>
            </a:r>
            <a:r>
              <a:rPr lang="zh-CN" altLang="en-US" sz="1200" b="1" dirty="0"/>
              <a:t>培训师登台，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度鞠躬，并问候全体学员</a:t>
            </a:r>
            <a:endParaRPr lang="en-US" altLang="zh-CN" sz="1200" b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3.2</a:t>
            </a:r>
            <a:r>
              <a:rPr lang="zh-CN" altLang="en-US" sz="1200" b="1" dirty="0"/>
              <a:t>培训师一句话自我介绍，展示自己的能力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3.3</a:t>
            </a:r>
            <a:r>
              <a:rPr lang="zh-CN" altLang="en-US" sz="1200" b="1" dirty="0"/>
              <a:t>培训师强调如何做到逻辑化表达是很多朋友的困惑，引发大家共鸣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3.4</a:t>
            </a:r>
            <a:r>
              <a:rPr lang="zh-CN" altLang="en-US" sz="1200" b="1" dirty="0"/>
              <a:t>培训师强调，先看看大家是如何逻辑化表达的，从而引出要做的活动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4.</a:t>
            </a:r>
            <a:r>
              <a:rPr lang="zh-CN" altLang="en-US" sz="1200" b="1" dirty="0"/>
              <a:t>参考话术：</a:t>
            </a:r>
            <a:r>
              <a:rPr lang="en-US" altLang="zh-CN" sz="1200" b="1" dirty="0"/>
              <a:t>(</a:t>
            </a:r>
            <a:r>
              <a:rPr lang="zh-CN" altLang="en-US" sz="1200" b="1" dirty="0"/>
              <a:t>略）</a:t>
            </a:r>
            <a:endParaRPr lang="en-US" altLang="zh-CN" sz="1200" b="1" dirty="0"/>
          </a:p>
          <a:p>
            <a:r>
              <a:rPr lang="en-US" altLang="zh-CN" sz="1200" b="1" dirty="0"/>
              <a:t>5.</a:t>
            </a:r>
            <a:r>
              <a:rPr lang="zh-CN" altLang="en-US" sz="1200" b="1" dirty="0"/>
              <a:t>过渡句：开讲具体内容之前先做个小活动，请看幻灯片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F8A912A-D90E-429B-84EC-89BBEA69C49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所用时长：</a:t>
            </a:r>
            <a:r>
              <a:rPr lang="en-US" altLang="zh-CN" dirty="0"/>
              <a:t>2</a:t>
            </a:r>
            <a:r>
              <a:rPr lang="zh-CN" altLang="en-US" dirty="0"/>
              <a:t>分钟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目标：突出自己在本门课程中的相关资质和能力，建立与学员的连接，破掉师生之间的冰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授课方式：游戏活动</a:t>
            </a:r>
            <a:endParaRPr lang="zh-CN" altLang="en-US" dirty="0"/>
          </a:p>
          <a:p>
            <a:r>
              <a:rPr lang="en-US" altLang="zh-CN" dirty="0"/>
              <a:t>4.</a:t>
            </a:r>
            <a:r>
              <a:rPr lang="zh-CN" altLang="en-US" dirty="0"/>
              <a:t>讲授流程及步骤：</a:t>
            </a:r>
            <a:endParaRPr lang="zh-CN" altLang="en-US" dirty="0"/>
          </a:p>
          <a:p>
            <a:r>
              <a:rPr lang="en-US" altLang="zh-CN" dirty="0"/>
              <a:t>4.1</a:t>
            </a:r>
            <a:r>
              <a:rPr lang="zh-CN" altLang="en-US" dirty="0"/>
              <a:t>培训师告知大家，个人信息中有一个是假的，猜对有奖品</a:t>
            </a:r>
            <a:endParaRPr lang="zh-CN" altLang="en-US" dirty="0"/>
          </a:p>
          <a:p>
            <a:r>
              <a:rPr lang="en-US" altLang="zh-CN" dirty="0"/>
              <a:t>4.2</a:t>
            </a:r>
            <a:r>
              <a:rPr lang="zh-CN" altLang="en-US" dirty="0"/>
              <a:t>培训师逐一介绍每条信息</a:t>
            </a:r>
            <a:endParaRPr lang="zh-CN" altLang="en-US" dirty="0"/>
          </a:p>
          <a:p>
            <a:r>
              <a:rPr lang="en-US" altLang="zh-CN" dirty="0"/>
              <a:t>4.3</a:t>
            </a:r>
            <a:r>
              <a:rPr lang="zh-CN" altLang="en-US" dirty="0"/>
              <a:t>培训师邀请每个小组的组长代表小组说出答案</a:t>
            </a:r>
            <a:endParaRPr lang="zh-CN" altLang="en-US" dirty="0"/>
          </a:p>
          <a:p>
            <a:r>
              <a:rPr lang="en-US" altLang="zh-CN" dirty="0"/>
              <a:t>4.4</a:t>
            </a:r>
            <a:r>
              <a:rPr lang="zh-CN" altLang="en-US" dirty="0"/>
              <a:t>培训师公布正确答案，并给猜对的小组发放奖品</a:t>
            </a:r>
            <a:endParaRPr lang="zh-CN" altLang="en-US" dirty="0"/>
          </a:p>
          <a:p>
            <a:r>
              <a:rPr lang="en-US" altLang="zh-CN" dirty="0"/>
              <a:t>4.5</a:t>
            </a:r>
            <a:r>
              <a:rPr lang="zh-CN" altLang="en-US" dirty="0"/>
              <a:t>培训师强调大家都熟悉了，现在开始投入学习</a:t>
            </a:r>
            <a:endParaRPr lang="zh-CN" altLang="en-US" dirty="0"/>
          </a:p>
          <a:p>
            <a:r>
              <a:rPr lang="en-US" altLang="zh-CN" dirty="0"/>
              <a:t>4.6</a:t>
            </a:r>
            <a:r>
              <a:rPr lang="zh-CN" altLang="en-US" dirty="0"/>
              <a:t>培训师强调时间有限，为了让学员更有针对性，接下来开展一个“问题收集”的小活动</a:t>
            </a:r>
            <a:endParaRPr lang="zh-CN" altLang="en-US" dirty="0"/>
          </a:p>
          <a:p>
            <a:r>
              <a:rPr lang="en-US" altLang="zh-CN" dirty="0"/>
              <a:t>5.</a:t>
            </a:r>
            <a:r>
              <a:rPr lang="zh-CN" altLang="en-US" dirty="0"/>
              <a:t>参考话术：</a:t>
            </a:r>
            <a:r>
              <a:rPr lang="en-US" altLang="zh-CN" dirty="0"/>
              <a:t>(</a:t>
            </a:r>
            <a:r>
              <a:rPr lang="zh-CN" altLang="en-US" dirty="0"/>
              <a:t>略）</a:t>
            </a:r>
            <a:endParaRPr lang="zh-CN" altLang="en-US" dirty="0"/>
          </a:p>
          <a:p>
            <a:r>
              <a:rPr lang="en-US" altLang="zh-CN" dirty="0"/>
              <a:t>6.</a:t>
            </a:r>
            <a:r>
              <a:rPr lang="zh-CN" altLang="en-US" dirty="0"/>
              <a:t>过渡句：接下来我们看一下“问题收集活动”的规则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8D83F6A-236E-41BC-B83A-00E0DE57EC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CD8323-E890-48BC-9FAB-49FD462979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 sz="1200" b="0" dirty="0"/>
              <a:t>1.</a:t>
            </a:r>
            <a:r>
              <a:rPr lang="zh-CN" altLang="en-US" sz="1200" b="0" dirty="0"/>
              <a:t>所用时长：</a:t>
            </a:r>
            <a:r>
              <a:rPr lang="en-US" altLang="zh-CN" sz="1200" b="0" dirty="0"/>
              <a:t>30</a:t>
            </a:r>
            <a:r>
              <a:rPr lang="zh-CN" altLang="en-US" sz="1200" b="0" dirty="0"/>
              <a:t>秒</a:t>
            </a:r>
            <a:endParaRPr lang="en-US" altLang="zh-CN" sz="1200" b="0" dirty="0"/>
          </a:p>
          <a:p>
            <a:r>
              <a:rPr lang="zh-CN" altLang="zh-CN" sz="1200" b="0" dirty="0"/>
              <a:t>2</a:t>
            </a:r>
            <a:r>
              <a:rPr lang="en-US" altLang="zh-CN" sz="1200" b="0" dirty="0"/>
              <a:t>.</a:t>
            </a:r>
            <a:r>
              <a:rPr lang="zh-CN" altLang="en-US" sz="1200" b="0" dirty="0"/>
              <a:t>目标：让学员清楚课程的学习过程</a:t>
            </a:r>
            <a:endParaRPr lang="en-US" altLang="zh-CN" sz="1200" b="0" dirty="0"/>
          </a:p>
          <a:p>
            <a:r>
              <a:rPr lang="en-US" altLang="zh-CN" sz="1200" b="0" dirty="0"/>
              <a:t>3.</a:t>
            </a:r>
            <a:r>
              <a:rPr lang="zh-CN" altLang="en-US" sz="1200" b="0" dirty="0"/>
              <a:t>授课方式：讲授</a:t>
            </a:r>
            <a:endParaRPr lang="en-US" altLang="zh-CN" sz="1200" b="0" dirty="0"/>
          </a:p>
          <a:p>
            <a:r>
              <a:rPr lang="en-US" altLang="zh-CN" sz="1200" b="0" dirty="0"/>
              <a:t>4.</a:t>
            </a:r>
            <a:r>
              <a:rPr lang="zh-CN" altLang="en-US" sz="1200" b="0" dirty="0"/>
              <a:t>讲授流程及步骤：</a:t>
            </a:r>
            <a:endParaRPr lang="en-US" altLang="zh-CN" sz="1200" b="0" dirty="0"/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4.1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培训师播放出课程目录（大纲）介绍的</a:t>
            </a:r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PPT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4.2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培训师逐一读出课程内容的安排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4.3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培训师强调课程的重点部分为第二、第三单元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4.4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培训师介绍课程的主要教学活动，让学员了解学习方式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4.5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培训师介绍课程的时间安排，让学员了解学习进度安排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4.6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培训师邀请大家进入第一单元的学习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dirty="0"/>
              <a:t>5.</a:t>
            </a:r>
            <a:r>
              <a:rPr lang="zh-CN" altLang="en-US" sz="1200" b="0" dirty="0"/>
              <a:t>参考话术：</a:t>
            </a:r>
            <a:r>
              <a:rPr lang="en-US" altLang="zh-CN" sz="1200" b="0" dirty="0"/>
              <a:t>(</a:t>
            </a:r>
            <a:r>
              <a:rPr lang="zh-CN" altLang="en-US" sz="1200" b="0" dirty="0"/>
              <a:t>略）</a:t>
            </a:r>
            <a:endParaRPr lang="en-US" altLang="zh-CN" sz="1200" b="0" dirty="0"/>
          </a:p>
          <a:p>
            <a:r>
              <a:rPr lang="en-US" altLang="zh-CN" sz="1200" b="0" dirty="0"/>
              <a:t>6.</a:t>
            </a:r>
            <a:r>
              <a:rPr lang="zh-CN" altLang="en-US" sz="1200" b="0" dirty="0"/>
              <a:t>过渡句：了解了课程安排，下面进入第一单元的学习</a:t>
            </a:r>
            <a:endParaRPr lang="en-US" altLang="zh-CN" b="0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673A2D-1EF6-41FA-8C1F-6696CFB0DC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/>
              <a:t>1.</a:t>
            </a:r>
            <a:r>
              <a:rPr lang="zh-CN" altLang="en-US" sz="1200" b="1" dirty="0"/>
              <a:t>所用时长：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秒</a:t>
            </a:r>
            <a:endParaRPr lang="en-US" altLang="zh-CN" sz="1200" b="1" dirty="0"/>
          </a:p>
          <a:p>
            <a:r>
              <a:rPr lang="zh-CN" altLang="zh-CN" sz="1200" b="1" dirty="0"/>
              <a:t>2</a:t>
            </a:r>
            <a:r>
              <a:rPr lang="en-US" altLang="zh-CN" sz="1200" b="1" dirty="0"/>
              <a:t>.</a:t>
            </a:r>
            <a:r>
              <a:rPr lang="zh-CN" altLang="en-US" sz="1200" b="1" dirty="0"/>
              <a:t>目标：结束微型课程，表示感谢</a:t>
            </a:r>
            <a:endParaRPr lang="en-US" altLang="zh-CN" sz="1200" b="1" dirty="0"/>
          </a:p>
          <a:p>
            <a:r>
              <a:rPr lang="en-US" altLang="zh-CN" sz="1200" b="1" dirty="0"/>
              <a:t>3.</a:t>
            </a:r>
            <a:r>
              <a:rPr lang="zh-CN" altLang="en-US" sz="1200" b="1" dirty="0"/>
              <a:t>讲授流程及步骤：</a:t>
            </a:r>
            <a:endParaRPr lang="en-US" altLang="zh-CN" sz="1200" b="1" dirty="0"/>
          </a:p>
          <a:p>
            <a:r>
              <a:rPr lang="en-US" altLang="zh-CN" sz="1200" b="1" dirty="0"/>
              <a:t>3</a:t>
            </a:r>
            <a:r>
              <a:rPr lang="en-US" altLang="zh-CN" b="1" dirty="0"/>
              <a:t>.1</a:t>
            </a:r>
            <a:r>
              <a:rPr lang="zh-CN" altLang="en-US" b="1" dirty="0"/>
              <a:t>培训师鞠躬致谢</a:t>
            </a:r>
            <a:endParaRPr lang="en-US" altLang="zh-CN" b="1" dirty="0"/>
          </a:p>
          <a:p>
            <a:r>
              <a:rPr lang="en-US" altLang="zh-CN" sz="1200" b="1" dirty="0"/>
              <a:t>3</a:t>
            </a:r>
            <a:r>
              <a:rPr lang="en-US" altLang="zh-CN" b="1" dirty="0"/>
              <a:t>.2</a:t>
            </a:r>
            <a:r>
              <a:rPr lang="zh-CN" altLang="en-US" b="1" dirty="0"/>
              <a:t>培训师再次表示感谢，祝福学员工作顺利，身体健康</a:t>
            </a:r>
            <a:endParaRPr lang="en-US" altLang="zh-CN" b="1" dirty="0"/>
          </a:p>
          <a:p>
            <a:r>
              <a:rPr lang="en-US" altLang="zh-CN" sz="1200" b="1" dirty="0"/>
              <a:t>3.3</a:t>
            </a:r>
            <a:r>
              <a:rPr lang="zh-CN" altLang="en-US" sz="1200" b="1" dirty="0"/>
              <a:t>培训师邀请主持人做交接工作</a:t>
            </a:r>
            <a:endParaRPr lang="en-US" altLang="zh-CN" sz="1200" b="1" dirty="0"/>
          </a:p>
          <a:p>
            <a:r>
              <a:rPr lang="en-US" altLang="zh-CN" sz="1200" b="1" dirty="0"/>
              <a:t>4.</a:t>
            </a:r>
            <a:r>
              <a:rPr lang="zh-CN" altLang="en-US" sz="1200" b="1" dirty="0"/>
              <a:t>参考话术：</a:t>
            </a:r>
            <a:r>
              <a:rPr lang="en-US" altLang="zh-CN" sz="1200" b="1" dirty="0"/>
              <a:t>(</a:t>
            </a:r>
            <a:r>
              <a:rPr lang="zh-CN" altLang="en-US" sz="1200" b="1" dirty="0"/>
              <a:t>略）</a:t>
            </a:r>
            <a:endParaRPr lang="en-US" altLang="zh-CN" sz="1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B8FDB36-2A96-4065-B77E-4959C17B8A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CD8323-E890-48BC-9FAB-49FD462979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80319" y="1118525"/>
            <a:ext cx="10031361" cy="2387600"/>
          </a:xfrm>
        </p:spPr>
        <p:txBody>
          <a:bodyPr anchor="b"/>
          <a:lstStyle>
            <a:lvl1pPr algn="ctr">
              <a:lnSpc>
                <a:spcPct val="150000"/>
              </a:lnSpc>
              <a:defRPr sz="6000">
                <a:solidFill>
                  <a:srgbClr val="8124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327789" y="3690527"/>
            <a:ext cx="7059561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67347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4834" y="1219006"/>
            <a:ext cx="10687118" cy="483766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786322"/>
            <a:ext cx="10972800" cy="1143000"/>
          </a:xfrm>
          <a:solidFill>
            <a:schemeClr val="accent3">
              <a:alpha val="80000"/>
            </a:schemeClr>
          </a:solidFill>
        </p:spPr>
        <p:txBody>
          <a:bodyPr>
            <a:normAutofit/>
          </a:bodyPr>
          <a:lstStyle>
            <a:lvl1pPr algn="l"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45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793B4088-6DF7-4722-A377-804CCF346F0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45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45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C279601B-FD52-4406-A15B-31AB1A07C47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71462" y="5500703"/>
            <a:ext cx="11049038" cy="1214446"/>
          </a:xfrm>
        </p:spPr>
        <p:txBody>
          <a:bodyPr/>
          <a:lstStyle>
            <a:lvl1pPr marL="0" indent="0">
              <a:buNone/>
              <a:def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</p:nvPr>
        </p:nvSpPr>
        <p:spPr>
          <a:xfrm>
            <a:off x="609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0D23FB24-0490-4519-BFB7-302237271487}" type="datetime1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</p:nvPr>
        </p:nvSpPr>
        <p:spPr>
          <a:xfrm>
            <a:off x="4165600" y="635638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</p:nvPr>
        </p:nvSpPr>
        <p:spPr>
          <a:xfrm>
            <a:off x="8737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8EC6AE07-4DB8-4225-8BF8-3DF742135F03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fld id="{BE0212B9-5089-42DA-B530-DD09CA2271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8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74834" y="301979"/>
            <a:ext cx="10687118" cy="803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74834" y="1219006"/>
            <a:ext cx="10687118" cy="5065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792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187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738671" y="1105843"/>
            <a:ext cx="10686567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44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5" Type="http://schemas.openxmlformats.org/officeDocument/2006/relationships/slideLayout" Target="../slideLayouts/slideLayout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4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2026 西红门路演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566928" y="502920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4000" b="1" dirty="0">
                <a:solidFill>
                  <a:srgbClr val="17313B"/>
                </a:solidFill>
                <a:latin typeface="PingFang SC"/>
                <a:ea typeface="PingFang SC"/>
              </a:rPr>
              <a:t>搭把手</a:t>
            </a:r>
            <a:endParaRPr lang="zh-CN" sz="4000"/>
          </a:p>
        </p:txBody>
      </p:sp>
      <p:sp>
        <p:nvSpPr>
          <p:cNvPr id="5" name="Text 5"/>
          <p:cNvSpPr txBox="1"/>
          <p:nvPr/>
        </p:nvSpPr>
        <p:spPr>
          <a:xfrm>
            <a:off x="603504" y="12984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800" b="1" dirty="0">
                <a:solidFill>
                  <a:srgbClr val="2F6B5F"/>
                </a:solidFill>
                <a:latin typeface="PingFang SC"/>
                <a:ea typeface="PingFang SC"/>
              </a:rPr>
              <a:t>邻里搭把手，服务家门口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603504" y="1847088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50" b="0" dirty="0">
                <a:solidFill>
                  <a:srgbClr val="5A6E74"/>
                </a:solidFill>
                <a:latin typeface="PingFang SC"/>
                <a:ea typeface="PingFang SC"/>
              </a:rPr>
              <a:t>全龄友好的社区生活地图</a:t>
            </a:r>
            <a:endParaRPr lang="zh-CN" sz="1250"/>
          </a:p>
          <a:p>
            <a:pPr alg="l"/>
            <a:r>
              <a:rPr lang="zh-CN" sz="1250" b="0" dirty="0">
                <a:solidFill>
                  <a:srgbClr val="5A6E74"/>
                </a:solidFill>
                <a:latin typeface="PingFang SC"/>
                <a:ea typeface="PingFang SC"/>
              </a:rPr>
              <a:t>把居民互助、真实公共服务与社区运营连成闭环</a:t>
            </a:r>
            <a:endParaRPr lang="zh-CN" sz="1250"/>
          </a:p>
        </p:txBody>
      </p:sp>
      <p:sp>
        <p:nvSpPr>
          <p:cNvPr id="7" name="Shape 7"/>
          <p:cNvSpPr/>
          <p:nvPr/>
        </p:nvSpPr>
        <p:spPr>
          <a:xfrm>
            <a:off x="603504" y="2779776"/>
            <a:ext cx="1078992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03504" y="2798064"/>
            <a:ext cx="10789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居民端</a:t>
            </a:r>
            <a:endParaRPr lang="zh-CN" sz="850"/>
          </a:p>
        </p:txBody>
      </p:sp>
      <p:sp>
        <p:nvSpPr>
          <p:cNvPr id="9" name="Shape 9"/>
          <p:cNvSpPr/>
          <p:nvPr/>
        </p:nvSpPr>
        <p:spPr>
          <a:xfrm>
            <a:off x="1773936" y="2779776"/>
            <a:ext cx="107899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773936" y="2798064"/>
            <a:ext cx="10789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A36E12"/>
                </a:solidFill>
                <a:latin typeface="PingFang SC"/>
                <a:ea typeface="PingFang SC"/>
              </a:rPr>
              <a:t>社区端</a:t>
            </a:r>
            <a:endParaRPr lang="zh-CN" sz="850"/>
          </a:p>
        </p:txBody>
      </p:sp>
      <p:sp>
        <p:nvSpPr>
          <p:cNvPr id="11" name="Shape 11"/>
          <p:cNvSpPr/>
          <p:nvPr/>
        </p:nvSpPr>
        <p:spPr>
          <a:xfrm>
            <a:off x="2944368" y="2779776"/>
            <a:ext cx="1078992" cy="27432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2944368" y="2798064"/>
            <a:ext cx="10789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F06A4B"/>
                </a:solidFill>
                <a:latin typeface="PingFang SC"/>
                <a:ea typeface="PingFang SC"/>
              </a:rPr>
              <a:t>社工端</a:t>
            </a:r>
            <a:endParaRPr lang="zh-CN" sz="850"/>
          </a:p>
        </p:txBody>
      </p:sp>
      <p:sp>
        <p:nvSpPr>
          <p:cNvPr id="13" name="Text 13"/>
          <p:cNvSpPr txBox="1"/>
          <p:nvPr/>
        </p:nvSpPr>
        <p:spPr>
          <a:xfrm>
            <a:off x="603504" y="33101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17313B"/>
                </a:solidFill>
                <a:latin typeface="PingFang SC"/>
                <a:ea typeface="PingFang SC"/>
              </a:rPr>
              <a:t>React + Express + SQLite 三端全栈 MVP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5989320" y="384048"/>
            <a:ext cx="53035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345936" y="65836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400" b="1" dirty="0">
                <a:solidFill>
                  <a:srgbClr val="17313B"/>
                </a:solidFill>
                <a:latin typeface="PingFang SC"/>
                <a:ea typeface="PingFang SC"/>
              </a:rPr>
              <a:t>一张可信的社区生活地图</a:t>
            </a:r>
            <a:endParaRPr lang="zh-CN" sz="1400"/>
          </a:p>
        </p:txBody>
      </p:sp>
      <p:cxnSp>
        <p:nvCxnSpPr>
          <p:cNvPr id="16" name="Line 16"/>
          <p:cNvCxnSpPr/>
          <p:nvPr/>
        </p:nvCxnSpPr>
        <p:spPr>
          <a:xfrm>
            <a:off x="7196327" y="1645920"/>
            <a:ext cx="1764791" cy="-274320"/>
          </a:xfrm>
          <a:prstGeom prst="line">
            <a:avLst/>
          </a:prstGeom>
          <a:ln w="16510">
            <a:solidFill>
              <a:srgbClr val="E5E3DA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961119" y="1371600"/>
            <a:ext cx="1499616" cy="777240"/>
          </a:xfrm>
          <a:prstGeom prst="line">
            <a:avLst/>
          </a:prstGeom>
          <a:ln w="16510">
            <a:solidFill>
              <a:srgbClr val="E5E3DA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460736" y="2148840"/>
            <a:ext cx="-1865375" cy="896112"/>
          </a:xfrm>
          <a:prstGeom prst="line">
            <a:avLst/>
          </a:prstGeom>
          <a:ln w="16510">
            <a:solidFill>
              <a:srgbClr val="E5E3DA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595360" y="3044952"/>
            <a:ext cx="-1627632" cy="-164592"/>
          </a:xfrm>
          <a:prstGeom prst="line">
            <a:avLst/>
          </a:prstGeom>
          <a:ln w="16510">
            <a:solidFill>
              <a:srgbClr val="E5E3DA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967727" y="2880360"/>
            <a:ext cx="228600" cy="-1234439"/>
          </a:xfrm>
          <a:prstGeom prst="line">
            <a:avLst/>
          </a:prstGeom>
          <a:ln w="16510">
            <a:solidFill>
              <a:srgbClr val="E5E3DA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6720840" y="1417320"/>
            <a:ext cx="960120" cy="475488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720840" y="154533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40" b="1" dirty="0">
                <a:solidFill>
                  <a:srgbClr val="FFFFFF"/>
                </a:solidFill>
                <a:latin typeface="PingFang SC"/>
                <a:ea typeface="PingFang SC"/>
              </a:rPr>
              <a:t>公共服务</a:t>
            </a:r>
            <a:endParaRPr lang="zh-CN" sz="740"/>
          </a:p>
        </p:txBody>
      </p:sp>
      <p:sp>
        <p:nvSpPr>
          <p:cNvPr id="23" name="Shape 23"/>
          <p:cNvSpPr/>
          <p:nvPr/>
        </p:nvSpPr>
        <p:spPr>
          <a:xfrm>
            <a:off x="8485632" y="1143000"/>
            <a:ext cx="960120" cy="475488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485632" y="127101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40" b="1" dirty="0">
                <a:solidFill>
                  <a:srgbClr val="FFFFFF"/>
                </a:solidFill>
                <a:latin typeface="PingFang SC"/>
                <a:ea typeface="PingFang SC"/>
              </a:rPr>
              <a:t>邻里互助</a:t>
            </a:r>
            <a:endParaRPr lang="zh-CN" sz="740"/>
          </a:p>
        </p:txBody>
      </p:sp>
      <p:sp>
        <p:nvSpPr>
          <p:cNvPr id="25" name="Shape 25"/>
          <p:cNvSpPr/>
          <p:nvPr/>
        </p:nvSpPr>
        <p:spPr>
          <a:xfrm>
            <a:off x="9985248" y="1920240"/>
            <a:ext cx="960120" cy="475488"/>
          </a:xfrm>
          <a:prstGeom prst="roundRect">
            <a:avLst/>
          </a:prstGeom>
          <a:solidFill>
            <a:srgbClr val="E9A23B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985248" y="204825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40" b="1" dirty="0">
                <a:solidFill>
                  <a:srgbClr val="FFFFFF"/>
                </a:solidFill>
                <a:latin typeface="PingFang SC"/>
                <a:ea typeface="PingFang SC"/>
              </a:rPr>
              <a:t>社区活动</a:t>
            </a:r>
            <a:endParaRPr lang="zh-CN" sz="740"/>
          </a:p>
        </p:txBody>
      </p:sp>
      <p:sp>
        <p:nvSpPr>
          <p:cNvPr id="27" name="Shape 27"/>
          <p:cNvSpPr/>
          <p:nvPr/>
        </p:nvSpPr>
        <p:spPr>
          <a:xfrm>
            <a:off x="8119872" y="2816352"/>
            <a:ext cx="960120" cy="475488"/>
          </a:xfrm>
          <a:prstGeom prst="roundRect">
            <a:avLst/>
          </a:prstGeom>
          <a:solidFill>
            <a:srgbClr val="506D91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119872" y="2944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40" b="1" dirty="0">
                <a:solidFill>
                  <a:srgbClr val="FFFFFF"/>
                </a:solidFill>
                <a:latin typeface="PingFang SC"/>
                <a:ea typeface="PingFang SC"/>
              </a:rPr>
              <a:t>社工跟进</a:t>
            </a:r>
            <a:endParaRPr lang="zh-CN" sz="740"/>
          </a:p>
        </p:txBody>
      </p:sp>
      <p:sp>
        <p:nvSpPr>
          <p:cNvPr id="29" name="Shape 29"/>
          <p:cNvSpPr/>
          <p:nvPr/>
        </p:nvSpPr>
        <p:spPr>
          <a:xfrm>
            <a:off x="6492240" y="2651760"/>
            <a:ext cx="960120" cy="475488"/>
          </a:xfrm>
          <a:prstGeom prst="roundRect">
            <a:avLst/>
          </a:prstGeom>
          <a:solidFill>
            <a:srgbClr val="3D8274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492240" y="277977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40" b="1" dirty="0">
                <a:solidFill>
                  <a:srgbClr val="FFFFFF"/>
                </a:solidFill>
                <a:latin typeface="PingFang SC"/>
                <a:ea typeface="PingFang SC"/>
              </a:rPr>
              <a:t>积分信用</a:t>
            </a:r>
            <a:endParaRPr lang="zh-CN" sz="740"/>
          </a:p>
        </p:txBody>
      </p:sp>
      <p:sp>
        <p:nvSpPr>
          <p:cNvPr id="31" name="Text 31"/>
          <p:cNvSpPr txBox="1"/>
          <p:nvPr/>
        </p:nvSpPr>
        <p:spPr>
          <a:xfrm>
            <a:off x="8028431" y="198424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300" b="1" dirty="0">
                <a:solidFill>
                  <a:srgbClr val="2F6B5F"/>
                </a:solidFill>
                <a:latin typeface="PingFang SC"/>
                <a:ea typeface="PingFang SC"/>
              </a:rPr>
              <a:t>搭</a:t>
            </a:r>
            <a:endParaRPr lang="zh-CN" sz="1300"/>
          </a:p>
          <a:p>
            <a:pPr alg="ctr"/>
            <a:r>
              <a:rPr lang="zh-CN" sz="1300" b="1" dirty="0">
                <a:solidFill>
                  <a:srgbClr val="2F6B5F"/>
                </a:solidFill>
                <a:latin typeface="PingFang SC"/>
                <a:ea typeface="PingFang SC"/>
              </a:rPr>
              <a:t>把</a:t>
            </a:r>
            <a:endParaRPr lang="zh-CN" sz="1300"/>
          </a:p>
          <a:p>
            <a:pPr alg="ctr"/>
            <a:r>
              <a:rPr lang="zh-CN" sz="1300" b="1" dirty="0">
                <a:solidFill>
                  <a:srgbClr val="2F6B5F"/>
                </a:solidFill>
                <a:latin typeface="PingFang SC"/>
                <a:ea typeface="PingFang SC"/>
              </a:rPr>
              <a:t>手</a:t>
            </a:r>
            <a:endParaRPr lang="zh-CN" sz="1300"/>
          </a:p>
        </p:txBody>
      </p:sp>
      <p:cxnSp>
        <p:nvCxnSpPr>
          <p:cNvPr id="32" name="Line 32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公开服务数据快照：2026-07-11｜居民与运营数据为演示账户，不代表真实试点成效</a:t>
            </a:r>
            <a:endParaRPr lang="zh-CN" sz="5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01 / RESIDENT NEED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居民不是没有互助意愿，而是缺少可信连接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区域样本显示：想被帮助的人很多，愿意帮助的人也很多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475488" y="1335024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475488" y="1335024"/>
            <a:ext cx="73152" cy="1325880"/>
          </a:xfrm>
          <a:prstGeom prst="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76656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95.52%</a:t>
            </a:r>
            <a:endParaRPr lang="zh-CN" sz="2500"/>
          </a:p>
        </p:txBody>
      </p:sp>
      <p:sp>
        <p:nvSpPr>
          <p:cNvPr id="9" name="Text 9"/>
          <p:cNvSpPr txBox="1"/>
          <p:nvPr/>
        </p:nvSpPr>
        <p:spPr>
          <a:xfrm>
            <a:off x="685800" y="1993391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遇到困难时，希望获得邻居支持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85800" y="2286000"/>
            <a:ext cx="299008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50" b="0" dirty="0">
                <a:solidFill>
                  <a:srgbClr val="5A6E74"/>
                </a:solidFill>
                <a:latin typeface="PingFang SC"/>
                <a:ea typeface="PingFang SC"/>
              </a:rPr>
              <a:t>成都 7 个社区，n=335，2024</a:t>
            </a:r>
            <a:endParaRPr lang="zh-CN" sz="750"/>
          </a:p>
        </p:txBody>
      </p:sp>
      <p:sp>
        <p:nvSpPr>
          <p:cNvPr id="11" name="Shape 11"/>
          <p:cNvSpPr/>
          <p:nvPr/>
        </p:nvSpPr>
        <p:spPr>
          <a:xfrm>
            <a:off x="3968496" y="1335024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968496" y="1335024"/>
            <a:ext cx="73152" cy="1325880"/>
          </a:xfrm>
          <a:prstGeom prst="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169663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F06A4B"/>
                </a:solidFill>
                <a:latin typeface="Avenir Next Condensed"/>
                <a:ea typeface="Avenir Next Condensed"/>
              </a:rPr>
              <a:t>96.12%</a:t>
            </a:r>
            <a:endParaRPr lang="zh-CN" sz="2500"/>
          </a:p>
        </p:txBody>
      </p:sp>
      <p:sp>
        <p:nvSpPr>
          <p:cNvPr id="14" name="Text 14"/>
          <p:cNvSpPr txBox="1"/>
          <p:nvPr/>
        </p:nvSpPr>
        <p:spPr>
          <a:xfrm>
            <a:off x="4178808" y="1993391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愿意在邻居遇到困难时提供帮助</a:t>
            </a:r>
            <a:endParaRPr lang="zh-CN" sz="1100"/>
          </a:p>
        </p:txBody>
      </p:sp>
      <p:sp>
        <p:nvSpPr>
          <p:cNvPr id="15" name="Text 15"/>
          <p:cNvSpPr txBox="1"/>
          <p:nvPr/>
        </p:nvSpPr>
        <p:spPr>
          <a:xfrm>
            <a:off x="4178808" y="2286000"/>
            <a:ext cx="299008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50" b="0" dirty="0">
                <a:solidFill>
                  <a:srgbClr val="5A6E74"/>
                </a:solidFill>
                <a:latin typeface="PingFang SC"/>
                <a:ea typeface="PingFang SC"/>
              </a:rPr>
              <a:t>同一调查，不外推全国</a:t>
            </a:r>
            <a:endParaRPr lang="zh-CN" sz="750"/>
          </a:p>
        </p:txBody>
      </p:sp>
      <p:sp>
        <p:nvSpPr>
          <p:cNvPr id="16" name="Shape 16"/>
          <p:cNvSpPr/>
          <p:nvPr/>
        </p:nvSpPr>
        <p:spPr>
          <a:xfrm>
            <a:off x="7461504" y="1335024"/>
            <a:ext cx="3337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461504" y="1335024"/>
            <a:ext cx="73152" cy="1325880"/>
          </a:xfrm>
          <a:prstGeom prst="rect">
            <a:avLst/>
          </a:prstGeom>
          <a:solidFill>
            <a:srgbClr val="E9A23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7662672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E9A23B"/>
                </a:solidFill>
                <a:latin typeface="Avenir Next Condensed"/>
                <a:ea typeface="Avenir Next Condensed"/>
              </a:rPr>
              <a:t>30.75%</a:t>
            </a:r>
            <a:endParaRPr lang="zh-CN" sz="2500"/>
          </a:p>
        </p:txBody>
      </p:sp>
      <p:sp>
        <p:nvSpPr>
          <p:cNvPr id="19" name="Text 19"/>
          <p:cNvSpPr txBox="1"/>
          <p:nvPr/>
        </p:nvSpPr>
        <p:spPr>
          <a:xfrm>
            <a:off x="7671816" y="1993391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家庭过去三年实际经历过困境</a:t>
            </a:r>
            <a:endParaRPr lang="zh-CN" sz="1100"/>
          </a:p>
        </p:txBody>
      </p:sp>
      <p:sp>
        <p:nvSpPr>
          <p:cNvPr id="20" name="Text 20"/>
          <p:cNvSpPr txBox="1"/>
          <p:nvPr/>
        </p:nvSpPr>
        <p:spPr>
          <a:xfrm>
            <a:off x="7671816" y="2286000"/>
            <a:ext cx="299008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50" b="0" dirty="0">
                <a:solidFill>
                  <a:srgbClr val="5A6E74"/>
                </a:solidFill>
                <a:latin typeface="PingFang SC"/>
                <a:ea typeface="PingFang SC"/>
              </a:rPr>
              <a:t>生病、意外、失业等现实事件</a:t>
            </a:r>
            <a:endParaRPr lang="zh-CN" sz="750"/>
          </a:p>
        </p:txBody>
      </p:sp>
      <p:sp>
        <p:nvSpPr>
          <p:cNvPr id="21" name="Shape 21"/>
          <p:cNvSpPr/>
          <p:nvPr/>
        </p:nvSpPr>
        <p:spPr>
          <a:xfrm>
            <a:off x="475488" y="2907792"/>
            <a:ext cx="1032357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713232" y="313639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500" b="1" dirty="0">
                <a:solidFill>
                  <a:srgbClr val="17313B"/>
                </a:solidFill>
                <a:latin typeface="PingFang SC"/>
                <a:ea typeface="PingFang SC"/>
              </a:rPr>
              <a:t>高意愿，弱连接</a:t>
            </a:r>
            <a:endParaRPr lang="zh-CN" sz="1500"/>
          </a:p>
        </p:txBody>
      </p:sp>
      <p:sp>
        <p:nvSpPr>
          <p:cNvPr id="23" name="Text 23"/>
          <p:cNvSpPr txBox="1"/>
          <p:nvPr/>
        </p:nvSpPr>
        <p:spPr>
          <a:xfrm>
            <a:off x="2761488" y="301752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7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72%</a:t>
            </a:r>
            <a:endParaRPr lang="zh-CN" sz="1700"/>
          </a:p>
        </p:txBody>
      </p:sp>
      <p:sp>
        <p:nvSpPr>
          <p:cNvPr id="24" name="Text 24"/>
          <p:cNvSpPr txBox="1"/>
          <p:nvPr/>
        </p:nvSpPr>
        <p:spPr>
          <a:xfrm>
            <a:off x="2761488" y="33558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5A6E74"/>
                </a:solidFill>
                <a:latin typeface="PingFang SC"/>
                <a:ea typeface="PingFang SC"/>
              </a:rPr>
              <a:t>认为邻里关系重要</a:t>
            </a:r>
            <a:endParaRPr lang="zh-CN" sz="800"/>
          </a:p>
        </p:txBody>
      </p:sp>
      <p:sp>
        <p:nvSpPr>
          <p:cNvPr id="25" name="Text 25"/>
          <p:cNvSpPr txBox="1"/>
          <p:nvPr/>
        </p:nvSpPr>
        <p:spPr>
          <a:xfrm>
            <a:off x="4736592" y="301752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700" b="1" dirty="0">
                <a:solidFill>
                  <a:srgbClr val="F06A4B"/>
                </a:solidFill>
                <a:latin typeface="Avenir Next Condensed"/>
                <a:ea typeface="Avenir Next Condensed"/>
              </a:rPr>
              <a:t>77%</a:t>
            </a:r>
            <a:endParaRPr lang="zh-CN" sz="1700"/>
          </a:p>
        </p:txBody>
      </p:sp>
      <p:sp>
        <p:nvSpPr>
          <p:cNvPr id="26" name="Text 26"/>
          <p:cNvSpPr txBox="1"/>
          <p:nvPr/>
        </p:nvSpPr>
        <p:spPr>
          <a:xfrm>
            <a:off x="4736592" y="33558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5A6E74"/>
                </a:solidFill>
                <a:latin typeface="PingFang SC"/>
                <a:ea typeface="PingFang SC"/>
              </a:rPr>
              <a:t>愿在紧急时援助邻居</a:t>
            </a:r>
            <a:endParaRPr lang="zh-CN" sz="800"/>
          </a:p>
        </p:txBody>
      </p:sp>
      <p:sp>
        <p:nvSpPr>
          <p:cNvPr id="27" name="Text 27"/>
          <p:cNvSpPr txBox="1"/>
          <p:nvPr/>
        </p:nvSpPr>
        <p:spPr>
          <a:xfrm>
            <a:off x="6729984" y="301752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700" b="1" dirty="0">
                <a:solidFill>
                  <a:srgbClr val="E9A23B"/>
                </a:solidFill>
                <a:latin typeface="Avenir Next Condensed"/>
                <a:ea typeface="Avenir Next Condensed"/>
              </a:rPr>
              <a:t>2.7 / 5</a:t>
            </a:r>
            <a:endParaRPr lang="zh-CN" sz="1700"/>
          </a:p>
        </p:txBody>
      </p:sp>
      <p:sp>
        <p:nvSpPr>
          <p:cNvPr id="28" name="Text 28"/>
          <p:cNvSpPr txBox="1"/>
          <p:nvPr/>
        </p:nvSpPr>
        <p:spPr>
          <a:xfrm>
            <a:off x="6729984" y="33558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5A6E74"/>
                </a:solidFill>
                <a:latin typeface="PingFang SC"/>
                <a:ea typeface="PingFang SC"/>
              </a:rPr>
              <a:t>邻里熟悉度均分</a:t>
            </a:r>
            <a:endParaRPr lang="zh-CN" sz="800"/>
          </a:p>
        </p:txBody>
      </p:sp>
      <p:sp>
        <p:nvSpPr>
          <p:cNvPr id="29" name="Text 29"/>
          <p:cNvSpPr txBox="1"/>
          <p:nvPr/>
        </p:nvSpPr>
        <p:spPr>
          <a:xfrm>
            <a:off x="8833104" y="3044952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900" b="1" dirty="0">
                <a:solidFill>
                  <a:srgbClr val="17313B"/>
                </a:solidFill>
                <a:latin typeface="PingFang SC"/>
                <a:ea typeface="PingFang SC"/>
              </a:rPr>
              <a:t>意愿没有自动</a:t>
            </a:r>
            <a:endParaRPr lang="zh-CN" sz="900"/>
          </a:p>
          <a:p>
            <a:pPr alg="ctr"/>
            <a:r>
              <a:rPr lang="zh-CN" sz="900" b="1" dirty="0">
                <a:solidFill>
                  <a:srgbClr val="17313B"/>
                </a:solidFill>
                <a:latin typeface="PingFang SC"/>
                <a:ea typeface="PingFang SC"/>
              </a:rPr>
              <a:t>变成可执行互助</a:t>
            </a:r>
            <a:endParaRPr lang="zh-CN" sz="900"/>
          </a:p>
        </p:txBody>
      </p:sp>
      <p:cxnSp>
        <p:nvCxnSpPr>
          <p:cNvPr id="30" name="Line 30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1" name="Text 31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来源：益宝《社区互助调研报告（一）》2024.7-8，成都7社区，n=335；鄰舍輔導會《邻里关系调查》2023.7-8，n=1,277（香港样本）</a:t>
            </a:r>
            <a:endParaRPr lang="zh-CN" sz="560"/>
          </a:p>
        </p:txBody>
      </p:sp>
      <p:sp>
        <p:nvSpPr>
          <p:cNvPr id="32" name="Text 32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02</a:t>
            </a:r>
            <a:endParaRPr lang="zh-CN" sz="700"/>
          </a:p>
        </p:txBody>
      </p:sp>
      <p:sp>
        <p:nvSpPr>
          <p:cNvPr id="33" name="Text 33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02 / FULL-AGE SIGNAL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搭把手不是老年应用，而是全年龄的小事互助入口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人口结构说明服务规模，平台讨论说明议题热度，真实需求仍需本地试点验证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475488" y="1298448"/>
            <a:ext cx="22402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640080" y="1463039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0080" y="147218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2F6B5F"/>
                </a:solidFill>
                <a:latin typeface="PingFang SC"/>
                <a:ea typeface="PingFang SC"/>
              </a:rPr>
              <a:t>青</a:t>
            </a:r>
            <a:endParaRPr lang="zh-CN" sz="1200"/>
          </a:p>
        </p:txBody>
      </p:sp>
      <p:sp>
        <p:nvSpPr>
          <p:cNvPr id="9" name="Text 9"/>
          <p:cNvSpPr txBox="1"/>
          <p:nvPr/>
        </p:nvSpPr>
        <p:spPr>
          <a:xfrm>
            <a:off x="1069848" y="1453895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青年与新住民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58368" y="1828800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代取快递｜借工具｜拼单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找活动搭子｜认识邻居</a:t>
            </a:r>
            <a:endParaRPr lang="zh-CN" sz="840"/>
          </a:p>
        </p:txBody>
      </p:sp>
      <p:sp>
        <p:nvSpPr>
          <p:cNvPr id="11" name="Shape 11"/>
          <p:cNvSpPr/>
          <p:nvPr/>
        </p:nvSpPr>
        <p:spPr>
          <a:xfrm>
            <a:off x="2834640" y="1298448"/>
            <a:ext cx="22402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999232" y="1463039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2999232" y="147218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F06A4B"/>
                </a:solidFill>
                <a:latin typeface="PingFang SC"/>
                <a:ea typeface="PingFang SC"/>
              </a:rPr>
              <a:t>家</a:t>
            </a:r>
            <a:endParaRPr lang="zh-CN" sz="1200"/>
          </a:p>
        </p:txBody>
      </p:sp>
      <p:sp>
        <p:nvSpPr>
          <p:cNvPr id="14" name="Text 14"/>
          <p:cNvSpPr txBox="1"/>
          <p:nvPr/>
        </p:nvSpPr>
        <p:spPr>
          <a:xfrm>
            <a:off x="3429000" y="1453895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家庭与儿童</a:t>
            </a:r>
            <a:endParaRPr lang="zh-CN" sz="1100"/>
          </a:p>
        </p:txBody>
      </p:sp>
      <p:sp>
        <p:nvSpPr>
          <p:cNvPr id="15" name="Text 15"/>
          <p:cNvSpPr txBox="1"/>
          <p:nvPr/>
        </p:nvSpPr>
        <p:spPr>
          <a:xfrm>
            <a:off x="3017520" y="1828800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临时照应｜闲置交换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亲子活动｜托管信息</a:t>
            </a:r>
            <a:endParaRPr lang="zh-CN" sz="840"/>
          </a:p>
        </p:txBody>
      </p:sp>
      <p:sp>
        <p:nvSpPr>
          <p:cNvPr id="16" name="Shape 16"/>
          <p:cNvSpPr/>
          <p:nvPr/>
        </p:nvSpPr>
        <p:spPr>
          <a:xfrm>
            <a:off x="475488" y="2633472"/>
            <a:ext cx="22402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40080" y="2798064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40080" y="280720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E9A23B"/>
                </a:solidFill>
                <a:latin typeface="PingFang SC"/>
                <a:ea typeface="PingFang SC"/>
              </a:rPr>
              <a:t>护</a:t>
            </a:r>
            <a:endParaRPr lang="zh-CN" sz="1200"/>
          </a:p>
        </p:txBody>
      </p:sp>
      <p:sp>
        <p:nvSpPr>
          <p:cNvPr id="19" name="Text 19"/>
          <p:cNvSpPr txBox="1"/>
          <p:nvPr/>
        </p:nvSpPr>
        <p:spPr>
          <a:xfrm>
            <a:off x="1069848" y="278892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中年照护者</a:t>
            </a:r>
            <a:endParaRPr lang="zh-CN" sz="1100"/>
          </a:p>
        </p:txBody>
      </p:sp>
      <p:sp>
        <p:nvSpPr>
          <p:cNvPr id="20" name="Text 20"/>
          <p:cNvSpPr txBox="1"/>
          <p:nvPr/>
        </p:nvSpPr>
        <p:spPr>
          <a:xfrm>
            <a:off x="658368" y="316382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帮助异地父母｜陪诊信息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社区服务代查｜应急照应</a:t>
            </a:r>
            <a:endParaRPr lang="zh-CN" sz="840"/>
          </a:p>
        </p:txBody>
      </p:sp>
      <p:sp>
        <p:nvSpPr>
          <p:cNvPr id="21" name="Shape 21"/>
          <p:cNvSpPr/>
          <p:nvPr/>
        </p:nvSpPr>
        <p:spPr>
          <a:xfrm>
            <a:off x="2834640" y="2633472"/>
            <a:ext cx="22402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2" name="Shape 22"/>
          <p:cNvSpPr/>
          <p:nvPr/>
        </p:nvSpPr>
        <p:spPr>
          <a:xfrm>
            <a:off x="2999232" y="2798064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2999232" y="280720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506D91"/>
                </a:solidFill>
                <a:latin typeface="PingFang SC"/>
                <a:ea typeface="PingFang SC"/>
              </a:rPr>
              <a:t>老</a:t>
            </a:r>
            <a:endParaRPr lang="zh-CN" sz="1200"/>
          </a:p>
        </p:txBody>
      </p:sp>
      <p:sp>
        <p:nvSpPr>
          <p:cNvPr id="24" name="Text 24"/>
          <p:cNvSpPr txBox="1"/>
          <p:nvPr/>
        </p:nvSpPr>
        <p:spPr>
          <a:xfrm>
            <a:off x="3429000" y="278892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老年居民</a:t>
            </a:r>
            <a:endParaRPr lang="zh-CN" sz="1100"/>
          </a:p>
        </p:txBody>
      </p:sp>
      <p:sp>
        <p:nvSpPr>
          <p:cNvPr id="25" name="Text 25"/>
          <p:cNvSpPr txBox="1"/>
          <p:nvPr/>
        </p:nvSpPr>
        <p:spPr>
          <a:xfrm>
            <a:off x="3017520" y="316382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数字协助｜助医代办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陪伴活动｜关怀提醒</a:t>
            </a:r>
            <a:endParaRPr lang="zh-CN" sz="840"/>
          </a:p>
        </p:txBody>
      </p:sp>
      <p:sp>
        <p:nvSpPr>
          <p:cNvPr id="26" name="Shape 26"/>
          <p:cNvSpPr/>
          <p:nvPr/>
        </p:nvSpPr>
        <p:spPr>
          <a:xfrm>
            <a:off x="5358384" y="1298448"/>
            <a:ext cx="2404872" cy="2505456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641848" y="163677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2800" b="1" dirty="0">
                <a:solidFill>
                  <a:srgbClr val="FFFFFF"/>
                </a:solidFill>
                <a:latin typeface="Avenir Next Condensed"/>
                <a:ea typeface="Avenir Next Condensed"/>
              </a:rPr>
              <a:t>10.40 亿</a:t>
            </a:r>
            <a:endParaRPr lang="zh-CN" sz="2800"/>
          </a:p>
        </p:txBody>
      </p:sp>
      <p:sp>
        <p:nvSpPr>
          <p:cNvPr id="28" name="Text 28"/>
          <p:cNvSpPr txBox="1"/>
          <p:nvPr/>
        </p:nvSpPr>
        <p:spPr>
          <a:xfrm>
            <a:off x="5650992" y="226771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300" b="1" dirty="0">
                <a:solidFill>
                  <a:srgbClr val="FFFFFF"/>
                </a:solidFill>
                <a:latin typeface="PingFang SC"/>
                <a:ea typeface="PingFang SC"/>
              </a:rPr>
              <a:t>短视频用户</a:t>
            </a:r>
            <a:endParaRPr lang="zh-CN" sz="1300"/>
          </a:p>
        </p:txBody>
      </p:sp>
      <p:sp>
        <p:nvSpPr>
          <p:cNvPr id="29" name="Text 29"/>
          <p:cNvSpPr txBox="1"/>
          <p:nvPr/>
        </p:nvSpPr>
        <p:spPr>
          <a:xfrm>
            <a:off x="5669280" y="2706624"/>
            <a:ext cx="1792224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0" dirty="0">
                <a:solidFill>
                  <a:srgbClr val="E6F3EF"/>
                </a:solidFill>
                <a:latin typeface="PingFang SC"/>
                <a:ea typeface="PingFang SC"/>
              </a:rPr>
              <a:t>使用率 93.8%</a:t>
            </a:r>
            <a:endParaRPr lang="zh-CN" sz="830"/>
          </a:p>
          <a:p>
            <a:pPr alg="ctr"/>
            <a:r>
              <a:rPr lang="zh-CN" sz="830" b="0" dirty="0">
                <a:solidFill>
                  <a:srgbClr val="E6F3EF"/>
                </a:solidFill>
                <a:latin typeface="PingFang SC"/>
                <a:ea typeface="PingFang SC"/>
              </a:rPr>
              <a:t>大众平台是需求信号源</a:t>
            </a:r>
            <a:endParaRPr lang="zh-CN" sz="830"/>
          </a:p>
          <a:p>
            <a:pPr alg="ctr"/>
            <a:r>
              <a:rPr lang="zh-CN" sz="830" b="0" dirty="0">
                <a:solidFill>
                  <a:srgbClr val="E6F3EF"/>
                </a:solidFill>
                <a:latin typeface="PingFang SC"/>
                <a:ea typeface="PingFang SC"/>
              </a:rPr>
              <a:t>不是全国意愿调查</a:t>
            </a:r>
            <a:endParaRPr lang="zh-CN" sz="830"/>
          </a:p>
        </p:txBody>
      </p:sp>
      <p:sp>
        <p:nvSpPr>
          <p:cNvPr id="30" name="Shape 30"/>
          <p:cNvSpPr/>
          <p:nvPr/>
        </p:nvSpPr>
        <p:spPr>
          <a:xfrm>
            <a:off x="8046720" y="1298448"/>
            <a:ext cx="2761488" cy="2505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275320" y="153619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路演前 24 小时热度快照</a:t>
            </a:r>
            <a:endParaRPr lang="zh-CN" sz="1100"/>
          </a:p>
        </p:txBody>
      </p:sp>
      <p:sp>
        <p:nvSpPr>
          <p:cNvPr id="32" name="Shape 32"/>
          <p:cNvSpPr/>
          <p:nvPr/>
        </p:nvSpPr>
        <p:spPr>
          <a:xfrm>
            <a:off x="8275320" y="1938528"/>
            <a:ext cx="658368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275320" y="1956816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小红书</a:t>
            </a:r>
            <a:endParaRPr lang="zh-CN" sz="850"/>
          </a:p>
        </p:txBody>
      </p:sp>
      <p:sp>
        <p:nvSpPr>
          <p:cNvPr id="34" name="Text 34"/>
          <p:cNvSpPr txBox="1"/>
          <p:nvPr/>
        </p:nvSpPr>
        <p:spPr>
          <a:xfrm>
            <a:off x="9043416" y="1975104"/>
            <a:ext cx="149047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互助父母｜搭子养老</a:t>
            </a:r>
            <a:endParaRPr lang="zh-CN" sz="720"/>
          </a:p>
        </p:txBody>
      </p:sp>
      <p:sp>
        <p:nvSpPr>
          <p:cNvPr id="35" name="Shape 35"/>
          <p:cNvSpPr/>
          <p:nvPr/>
        </p:nvSpPr>
        <p:spPr>
          <a:xfrm>
            <a:off x="8275320" y="2459736"/>
            <a:ext cx="658368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275320" y="2478024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9A6818"/>
                </a:solidFill>
                <a:latin typeface="PingFang SC"/>
                <a:ea typeface="PingFang SC"/>
              </a:rPr>
              <a:t>抖音</a:t>
            </a:r>
            <a:endParaRPr lang="zh-CN" sz="850"/>
          </a:p>
        </p:txBody>
      </p:sp>
      <p:sp>
        <p:nvSpPr>
          <p:cNvPr id="37" name="Text 37"/>
          <p:cNvSpPr txBox="1"/>
          <p:nvPr/>
        </p:nvSpPr>
        <p:spPr>
          <a:xfrm>
            <a:off x="9043416" y="2496312"/>
            <a:ext cx="149047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邻里互助｜远亲近邻</a:t>
            </a:r>
            <a:endParaRPr lang="zh-CN" sz="720"/>
          </a:p>
        </p:txBody>
      </p:sp>
      <p:sp>
        <p:nvSpPr>
          <p:cNvPr id="38" name="Shape 38"/>
          <p:cNvSpPr/>
          <p:nvPr/>
        </p:nvSpPr>
        <p:spPr>
          <a:xfrm>
            <a:off x="8275320" y="2980944"/>
            <a:ext cx="658368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275320" y="299923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9A6818"/>
                </a:solidFill>
                <a:latin typeface="PingFang SC"/>
                <a:ea typeface="PingFang SC"/>
              </a:rPr>
              <a:t>快手</a:t>
            </a:r>
            <a:endParaRPr lang="zh-CN" sz="850"/>
          </a:p>
        </p:txBody>
      </p:sp>
      <p:sp>
        <p:nvSpPr>
          <p:cNvPr id="40" name="Text 40"/>
          <p:cNvSpPr txBox="1"/>
          <p:nvPr/>
        </p:nvSpPr>
        <p:spPr>
          <a:xfrm>
            <a:off x="9043416" y="3017520"/>
            <a:ext cx="149047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邻里帮忙｜志愿助老</a:t>
            </a:r>
            <a:endParaRPr lang="zh-CN" sz="720"/>
          </a:p>
        </p:txBody>
      </p:sp>
      <p:sp>
        <p:nvSpPr>
          <p:cNvPr id="41" name="Text 41"/>
          <p:cNvSpPr txBox="1"/>
          <p:nvPr/>
        </p:nvSpPr>
        <p:spPr>
          <a:xfrm>
            <a:off x="8275320" y="349300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30" b="1" dirty="0">
                <a:solidFill>
                  <a:srgbClr val="F06A4B"/>
                </a:solidFill>
                <a:latin typeface="PingFang SC"/>
                <a:ea typeface="PingFang SC"/>
              </a:rPr>
              <a:t>只记录平台原页、指标与时间</a:t>
            </a:r>
            <a:endParaRPr lang="zh-CN" sz="730"/>
          </a:p>
        </p:txBody>
      </p:sp>
      <p:cxnSp>
        <p:nvCxnSpPr>
          <p:cNvPr id="42" name="Line 42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43" name="Text 43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来源：CNNIC 第55次《中国互联网络发展状况统计报告》；国家统计局2024年统计公报（60岁及以上人口3.1031亿，仅作老年子场景规模背景）</a:t>
            </a:r>
            <a:endParaRPr lang="zh-CN" sz="560"/>
          </a:p>
        </p:txBody>
      </p:sp>
      <p:sp>
        <p:nvSpPr>
          <p:cNvPr id="44" name="Text 44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03</a:t>
            </a:r>
            <a:endParaRPr lang="zh-CN" sz="700"/>
          </a:p>
        </p:txBody>
      </p:sp>
      <p:sp>
        <p:nvSpPr>
          <p:cNvPr id="45" name="Text 45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03 / COMMUNITY NEED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社区不是没有服务，而是供给分散、状态难核验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西红门真实公开信息扫描，把社区端的日常工作量变成可观察证据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02920" y="1353312"/>
            <a:ext cx="15544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12648" y="1508760"/>
            <a:ext cx="13350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22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18</a:t>
            </a:r>
            <a:endParaRPr lang="zh-CN" sz="2200"/>
          </a:p>
        </p:txBody>
      </p:sp>
      <p:sp>
        <p:nvSpPr>
          <p:cNvPr id="8" name="Text 8"/>
          <p:cNvSpPr txBox="1"/>
          <p:nvPr/>
        </p:nvSpPr>
        <p:spPr>
          <a:xfrm>
            <a:off x="612648" y="1956816"/>
            <a:ext cx="133502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5A6E74"/>
                </a:solidFill>
                <a:latin typeface="PingFang SC"/>
                <a:ea typeface="PingFang SC"/>
              </a:rPr>
              <a:t>公开来源节点</a:t>
            </a:r>
            <a:endParaRPr lang="zh-CN" sz="800"/>
          </a:p>
        </p:txBody>
      </p:sp>
      <p:sp>
        <p:nvSpPr>
          <p:cNvPr id="9" name="Text 9"/>
          <p:cNvSpPr txBox="1"/>
          <p:nvPr/>
        </p:nvSpPr>
        <p:spPr>
          <a:xfrm>
            <a:off x="2112264" y="167335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3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300"/>
          </a:p>
        </p:txBody>
      </p:sp>
      <p:sp>
        <p:nvSpPr>
          <p:cNvPr id="10" name="Shape 10"/>
          <p:cNvSpPr/>
          <p:nvPr/>
        </p:nvSpPr>
        <p:spPr>
          <a:xfrm>
            <a:off x="2377439" y="1353312"/>
            <a:ext cx="15544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2487168" y="1508760"/>
            <a:ext cx="13350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22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16</a:t>
            </a:r>
            <a:endParaRPr lang="zh-CN" sz="2200"/>
          </a:p>
        </p:txBody>
      </p:sp>
      <p:sp>
        <p:nvSpPr>
          <p:cNvPr id="12" name="Text 12"/>
          <p:cNvSpPr txBox="1"/>
          <p:nvPr/>
        </p:nvSpPr>
        <p:spPr>
          <a:xfrm>
            <a:off x="2487168" y="1956816"/>
            <a:ext cx="133502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5A6E74"/>
                </a:solidFill>
                <a:latin typeface="PingFang SC"/>
                <a:ea typeface="PingFang SC"/>
              </a:rPr>
              <a:t>真实服务/活动</a:t>
            </a:r>
            <a:endParaRPr lang="zh-CN" sz="800"/>
          </a:p>
        </p:txBody>
      </p:sp>
      <p:sp>
        <p:nvSpPr>
          <p:cNvPr id="13" name="Text 13"/>
          <p:cNvSpPr txBox="1"/>
          <p:nvPr/>
        </p:nvSpPr>
        <p:spPr>
          <a:xfrm>
            <a:off x="3986783" y="167335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3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300"/>
          </a:p>
        </p:txBody>
      </p:sp>
      <p:sp>
        <p:nvSpPr>
          <p:cNvPr id="14" name="Shape 14"/>
          <p:cNvSpPr/>
          <p:nvPr/>
        </p:nvSpPr>
        <p:spPr>
          <a:xfrm>
            <a:off x="4251959" y="1353312"/>
            <a:ext cx="15544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4361688" y="1508760"/>
            <a:ext cx="13350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22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11</a:t>
            </a:r>
            <a:endParaRPr lang="zh-CN" sz="2200"/>
          </a:p>
        </p:txBody>
      </p:sp>
      <p:sp>
        <p:nvSpPr>
          <p:cNvPr id="16" name="Text 16"/>
          <p:cNvSpPr txBox="1"/>
          <p:nvPr/>
        </p:nvSpPr>
        <p:spPr>
          <a:xfrm>
            <a:off x="4361688" y="1956816"/>
            <a:ext cx="133502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5A6E74"/>
                </a:solidFill>
                <a:latin typeface="PingFang SC"/>
                <a:ea typeface="PingFang SC"/>
              </a:rPr>
              <a:t>当前或待核验</a:t>
            </a:r>
            <a:endParaRPr lang="zh-CN" sz="800"/>
          </a:p>
        </p:txBody>
      </p:sp>
      <p:sp>
        <p:nvSpPr>
          <p:cNvPr id="17" name="Text 17"/>
          <p:cNvSpPr txBox="1"/>
          <p:nvPr/>
        </p:nvSpPr>
        <p:spPr>
          <a:xfrm>
            <a:off x="5861303" y="167335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3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300"/>
          </a:p>
        </p:txBody>
      </p:sp>
      <p:sp>
        <p:nvSpPr>
          <p:cNvPr id="18" name="Shape 18"/>
          <p:cNvSpPr/>
          <p:nvPr/>
        </p:nvSpPr>
        <p:spPr>
          <a:xfrm>
            <a:off x="6126479" y="1353312"/>
            <a:ext cx="15544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236207" y="1508760"/>
            <a:ext cx="13350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2200" b="1" dirty="0">
                <a:solidFill>
                  <a:srgbClr val="F06A4B"/>
                </a:solidFill>
                <a:latin typeface="Avenir Next Condensed"/>
                <a:ea typeface="Avenir Next Condensed"/>
              </a:rPr>
              <a:t>10/11</a:t>
            </a:r>
            <a:endParaRPr lang="zh-CN" sz="2200"/>
          </a:p>
        </p:txBody>
      </p:sp>
      <p:sp>
        <p:nvSpPr>
          <p:cNvPr id="20" name="Text 20"/>
          <p:cNvSpPr txBox="1"/>
          <p:nvPr/>
        </p:nvSpPr>
        <p:spPr>
          <a:xfrm>
            <a:off x="6236207" y="1956816"/>
            <a:ext cx="133502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5A6E74"/>
                </a:solidFill>
                <a:latin typeface="PingFang SC"/>
                <a:ea typeface="PingFang SC"/>
              </a:rPr>
              <a:t>仍有字段缺失</a:t>
            </a:r>
            <a:endParaRPr lang="zh-CN" sz="800"/>
          </a:p>
        </p:txBody>
      </p:sp>
      <p:sp>
        <p:nvSpPr>
          <p:cNvPr id="21" name="Shape 21"/>
          <p:cNvSpPr/>
          <p:nvPr/>
        </p:nvSpPr>
        <p:spPr>
          <a:xfrm>
            <a:off x="8046720" y="1353312"/>
            <a:ext cx="2770632" cy="2542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8275320" y="15727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17313B"/>
                </a:solidFill>
                <a:latin typeface="PingFang SC"/>
                <a:ea typeface="PingFang SC"/>
              </a:rPr>
              <a:t>社区每天要完成的四件事</a:t>
            </a:r>
            <a:endParaRPr lang="zh-CN" sz="1200"/>
          </a:p>
        </p:txBody>
      </p:sp>
      <p:sp>
        <p:nvSpPr>
          <p:cNvPr id="23" name="Text 23"/>
          <p:cNvSpPr txBox="1"/>
          <p:nvPr/>
        </p:nvSpPr>
        <p:spPr>
          <a:xfrm>
            <a:off x="8284464" y="197510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1" dirty="0">
                <a:solidFill>
                  <a:srgbClr val="F06A4B"/>
                </a:solidFill>
                <a:latin typeface="PingFang SC"/>
                <a:ea typeface="PingFang SC"/>
              </a:rPr>
              <a:t>01</a:t>
            </a:r>
            <a:endParaRPr lang="zh-CN" sz="800"/>
          </a:p>
        </p:txBody>
      </p:sp>
      <p:sp>
        <p:nvSpPr>
          <p:cNvPr id="24" name="Text 24"/>
          <p:cNvSpPr txBox="1"/>
          <p:nvPr/>
        </p:nvSpPr>
        <p:spPr>
          <a:xfrm>
            <a:off x="8723376" y="1975104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找来源：官网、公众号、平台</a:t>
            </a:r>
            <a:endParaRPr lang="zh-CN" sz="819"/>
          </a:p>
        </p:txBody>
      </p:sp>
      <p:sp>
        <p:nvSpPr>
          <p:cNvPr id="25" name="Text 25"/>
          <p:cNvSpPr txBox="1"/>
          <p:nvPr/>
        </p:nvSpPr>
        <p:spPr>
          <a:xfrm>
            <a:off x="8284464" y="241401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1" dirty="0">
                <a:solidFill>
                  <a:srgbClr val="F06A4B"/>
                </a:solidFill>
                <a:latin typeface="PingFang SC"/>
                <a:ea typeface="PingFang SC"/>
              </a:rPr>
              <a:t>02</a:t>
            </a:r>
            <a:endParaRPr lang="zh-CN" sz="800"/>
          </a:p>
        </p:txBody>
      </p:sp>
      <p:sp>
        <p:nvSpPr>
          <p:cNvPr id="26" name="Text 26"/>
          <p:cNvSpPr txBox="1"/>
          <p:nvPr/>
        </p:nvSpPr>
        <p:spPr>
          <a:xfrm>
            <a:off x="8723376" y="2414016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核字段：时间、余量、费用、地址</a:t>
            </a:r>
            <a:endParaRPr lang="zh-CN" sz="819"/>
          </a:p>
        </p:txBody>
      </p:sp>
      <p:sp>
        <p:nvSpPr>
          <p:cNvPr id="27" name="Text 27"/>
          <p:cNvSpPr txBox="1"/>
          <p:nvPr/>
        </p:nvSpPr>
        <p:spPr>
          <a:xfrm>
            <a:off x="8284464" y="28529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1" dirty="0">
                <a:solidFill>
                  <a:srgbClr val="F06A4B"/>
                </a:solidFill>
                <a:latin typeface="PingFang SC"/>
                <a:ea typeface="PingFang SC"/>
              </a:rPr>
              <a:t>03</a:t>
            </a:r>
            <a:endParaRPr lang="zh-CN" sz="800"/>
          </a:p>
        </p:txBody>
      </p:sp>
      <p:sp>
        <p:nvSpPr>
          <p:cNvPr id="28" name="Text 28"/>
          <p:cNvSpPr txBox="1"/>
          <p:nvPr/>
        </p:nvSpPr>
        <p:spPr>
          <a:xfrm>
            <a:off x="8723376" y="2852928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审发布：明确未知与有效期</a:t>
            </a:r>
            <a:endParaRPr lang="zh-CN" sz="819"/>
          </a:p>
        </p:txBody>
      </p:sp>
      <p:sp>
        <p:nvSpPr>
          <p:cNvPr id="29" name="Text 29"/>
          <p:cNvSpPr txBox="1"/>
          <p:nvPr/>
        </p:nvSpPr>
        <p:spPr>
          <a:xfrm>
            <a:off x="8284464" y="329184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1" dirty="0">
                <a:solidFill>
                  <a:srgbClr val="F06A4B"/>
                </a:solidFill>
                <a:latin typeface="PingFang SC"/>
                <a:ea typeface="PingFang SC"/>
              </a:rPr>
              <a:t>04</a:t>
            </a:r>
            <a:endParaRPr lang="zh-CN" sz="800"/>
          </a:p>
        </p:txBody>
      </p:sp>
      <p:sp>
        <p:nvSpPr>
          <p:cNvPr id="30" name="Text 30"/>
          <p:cNvSpPr txBox="1"/>
          <p:nvPr/>
        </p:nvSpPr>
        <p:spPr>
          <a:xfrm>
            <a:off x="8723376" y="329184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5A6E74"/>
                </a:solidFill>
                <a:latin typeface="PingFang SC"/>
                <a:ea typeface="PingFang SC"/>
              </a:rPr>
              <a:t>接反馈：居民意向、社工跟进</a:t>
            </a:r>
            <a:endParaRPr lang="zh-CN" sz="819"/>
          </a:p>
        </p:txBody>
      </p:sp>
      <p:sp>
        <p:nvSpPr>
          <p:cNvPr id="31" name="Shape 31"/>
          <p:cNvSpPr/>
          <p:nvPr/>
        </p:nvSpPr>
        <p:spPr>
          <a:xfrm>
            <a:off x="502920" y="2670048"/>
            <a:ext cx="7223760" cy="1225296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49808" y="2889504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300" b="1" dirty="0">
                <a:solidFill>
                  <a:srgbClr val="17313B"/>
                </a:solidFill>
                <a:latin typeface="PingFang SC"/>
                <a:ea typeface="PingFang SC"/>
              </a:rPr>
              <a:t>缺的不是活动数量</a:t>
            </a:r>
            <a:endParaRPr lang="zh-CN" sz="1300"/>
          </a:p>
        </p:txBody>
      </p:sp>
      <p:sp>
        <p:nvSpPr>
          <p:cNvPr id="33" name="Text 33"/>
          <p:cNvSpPr txBox="1"/>
          <p:nvPr/>
        </p:nvSpPr>
        <p:spPr>
          <a:xfrm>
            <a:off x="2487168" y="2834640"/>
            <a:ext cx="48920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19" b="0" dirty="0">
                <a:solidFill>
                  <a:srgbClr val="5A6E74"/>
                </a:solidFill>
                <a:latin typeface="PingFang SC"/>
                <a:ea typeface="PingFang SC"/>
              </a:rPr>
              <a:t>而是一个把来源、审核、发布、到期复核和居民反馈串起来的工作台。</a:t>
            </a:r>
            <a:endParaRPr lang="zh-CN" sz="919"/>
          </a:p>
          <a:p>
            <a:pPr alg="l"/>
            <a:r>
              <a:rPr lang="zh-CN" sz="919" b="0" dirty="0">
                <a:solidFill>
                  <a:srgbClr val="5A6E74"/>
                </a:solidFill>
                <a:latin typeface="PingFang SC"/>
                <a:ea typeface="PingFang SC"/>
              </a:rPr>
              <a:t>公开来源不等于合作，计划容量不等于实时余量。</a:t>
            </a:r>
            <a:endParaRPr lang="zh-CN" sz="919"/>
          </a:p>
        </p:txBody>
      </p:sp>
      <p:cxnSp>
        <p:nvCxnSpPr>
          <p:cNvPr id="34" name="Line 34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5" name="Text 35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来源：项目《2026-07-11 西红门公共服务供给扫描》及 sources.v0.1.json / activities.v0.1.json；16条记录均保留原文链接与核验时间</a:t>
            </a:r>
            <a:endParaRPr lang="zh-CN" sz="560"/>
          </a:p>
        </p:txBody>
      </p:sp>
      <p:sp>
        <p:nvSpPr>
          <p:cNvPr id="36" name="Text 36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04</a:t>
            </a:r>
            <a:endParaRPr lang="zh-CN" sz="700"/>
          </a:p>
        </p:txBody>
      </p:sp>
      <p:sp>
        <p:nvSpPr>
          <p:cNvPr id="37" name="Text 37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04 / POLICY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政策需要的不是再建一个群，而是服务可达、数据复用、基层减负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按相关度优先、同等相关度下时间优先，十五五方向优先于十四五表述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02920" y="1261872"/>
            <a:ext cx="103052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658368" y="1399031"/>
            <a:ext cx="621792" cy="27432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58368" y="1417319"/>
            <a:ext cx="6217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FFFFFF"/>
                </a:solidFill>
                <a:latin typeface="PingFang SC"/>
                <a:ea typeface="PingFang SC"/>
              </a:rPr>
              <a:t>2026</a:t>
            </a:r>
            <a:endParaRPr lang="zh-CN" sz="850"/>
          </a:p>
        </p:txBody>
      </p:sp>
      <p:sp>
        <p:nvSpPr>
          <p:cNvPr id="9" name="Text 9"/>
          <p:cNvSpPr txBox="1"/>
          <p:nvPr/>
        </p:nvSpPr>
        <p:spPr>
          <a:xfrm>
            <a:off x="1444752" y="138988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50" b="1" dirty="0">
                <a:solidFill>
                  <a:srgbClr val="17313B"/>
                </a:solidFill>
                <a:latin typeface="PingFang SC"/>
                <a:ea typeface="PingFang SC"/>
              </a:rPr>
              <a:t>十五五：基层治理与基本公共服务</a:t>
            </a:r>
            <a:endParaRPr lang="zh-CN" sz="950"/>
          </a:p>
        </p:txBody>
      </p:sp>
      <p:sp>
        <p:nvSpPr>
          <p:cNvPr id="10" name="Text 10"/>
          <p:cNvSpPr txBox="1"/>
          <p:nvPr/>
        </p:nvSpPr>
        <p:spPr>
          <a:xfrm>
            <a:off x="4160520" y="1389888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服务可达、可反馈、可评估</a:t>
            </a:r>
            <a:endParaRPr lang="zh-CN" sz="819"/>
          </a:p>
        </p:txBody>
      </p:sp>
      <p:sp>
        <p:nvSpPr>
          <p:cNvPr id="11" name="Text 11"/>
          <p:cNvSpPr txBox="1"/>
          <p:nvPr/>
        </p:nvSpPr>
        <p:spPr>
          <a:xfrm>
            <a:off x="7242048" y="1389888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1" dirty="0">
                <a:solidFill>
                  <a:srgbClr val="2F6B5F"/>
                </a:solidFill>
                <a:latin typeface="PingFang SC"/>
                <a:ea typeface="PingFang SC"/>
              </a:rPr>
              <a:t>统一入口｜居民意向｜闭环反馈</a:t>
            </a:r>
            <a:endParaRPr lang="zh-CN" sz="840"/>
          </a:p>
        </p:txBody>
      </p:sp>
      <p:sp>
        <p:nvSpPr>
          <p:cNvPr id="12" name="Shape 12"/>
          <p:cNvSpPr/>
          <p:nvPr/>
        </p:nvSpPr>
        <p:spPr>
          <a:xfrm>
            <a:off x="502920" y="1956815"/>
            <a:ext cx="103052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3" name="Shape 13"/>
          <p:cNvSpPr/>
          <p:nvPr/>
        </p:nvSpPr>
        <p:spPr>
          <a:xfrm>
            <a:off x="658368" y="2093975"/>
            <a:ext cx="621792" cy="274320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58368" y="2112263"/>
            <a:ext cx="6217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FFFFFF"/>
                </a:solidFill>
                <a:latin typeface="PingFang SC"/>
                <a:ea typeface="PingFang SC"/>
              </a:rPr>
              <a:t>2026</a:t>
            </a:r>
            <a:endParaRPr lang="zh-CN" sz="850"/>
          </a:p>
        </p:txBody>
      </p:sp>
      <p:sp>
        <p:nvSpPr>
          <p:cNvPr id="15" name="Text 15"/>
          <p:cNvSpPr txBox="1"/>
          <p:nvPr/>
        </p:nvSpPr>
        <p:spPr>
          <a:xfrm>
            <a:off x="1444752" y="2084831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50" b="1" dirty="0">
                <a:solidFill>
                  <a:srgbClr val="17313B"/>
                </a:solidFill>
                <a:latin typeface="PingFang SC"/>
                <a:ea typeface="PingFang SC"/>
              </a:rPr>
              <a:t>互助性养老与城乡三级养老网络</a:t>
            </a:r>
            <a:endParaRPr lang="zh-CN" sz="950"/>
          </a:p>
        </p:txBody>
      </p:sp>
      <p:sp>
        <p:nvSpPr>
          <p:cNvPr id="16" name="Text 16"/>
          <p:cNvSpPr txBox="1"/>
          <p:nvPr/>
        </p:nvSpPr>
        <p:spPr>
          <a:xfrm>
            <a:off x="4160520" y="2084831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社区发现需求、组织互助、专业转介</a:t>
            </a:r>
            <a:endParaRPr lang="zh-CN" sz="819"/>
          </a:p>
        </p:txBody>
      </p:sp>
      <p:sp>
        <p:nvSpPr>
          <p:cNvPr id="17" name="Text 17"/>
          <p:cNvSpPr txBox="1"/>
          <p:nvPr/>
        </p:nvSpPr>
        <p:spPr>
          <a:xfrm>
            <a:off x="7242048" y="2084831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1" dirty="0">
                <a:solidFill>
                  <a:srgbClr val="F06A4B"/>
                </a:solidFill>
                <a:latin typeface="PingFang SC"/>
                <a:ea typeface="PingFang SC"/>
              </a:rPr>
              <a:t>关怀版｜低风险互助｜社工任务</a:t>
            </a:r>
            <a:endParaRPr lang="zh-CN" sz="840"/>
          </a:p>
        </p:txBody>
      </p:sp>
      <p:sp>
        <p:nvSpPr>
          <p:cNvPr id="18" name="Shape 18"/>
          <p:cNvSpPr/>
          <p:nvPr/>
        </p:nvSpPr>
        <p:spPr>
          <a:xfrm>
            <a:off x="502920" y="2651760"/>
            <a:ext cx="103052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58368" y="2788920"/>
            <a:ext cx="62179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58368" y="2807208"/>
            <a:ext cx="6217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8B631C"/>
                </a:solidFill>
                <a:latin typeface="PingFang SC"/>
                <a:ea typeface="PingFang SC"/>
              </a:rPr>
              <a:t>2024</a:t>
            </a:r>
            <a:endParaRPr lang="zh-CN" sz="850"/>
          </a:p>
        </p:txBody>
      </p:sp>
      <p:sp>
        <p:nvSpPr>
          <p:cNvPr id="21" name="Text 21"/>
          <p:cNvSpPr txBox="1"/>
          <p:nvPr/>
        </p:nvSpPr>
        <p:spPr>
          <a:xfrm>
            <a:off x="1444752" y="2779776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50" b="1" dirty="0">
                <a:solidFill>
                  <a:srgbClr val="17313B"/>
                </a:solidFill>
                <a:latin typeface="PingFang SC"/>
                <a:ea typeface="PingFang SC"/>
              </a:rPr>
              <a:t>加强社区工作者队伍建设</a:t>
            </a:r>
            <a:endParaRPr lang="zh-CN" sz="950"/>
          </a:p>
        </p:txBody>
      </p:sp>
      <p:sp>
        <p:nvSpPr>
          <p:cNvPr id="22" name="Text 22"/>
          <p:cNvSpPr txBox="1"/>
          <p:nvPr/>
        </p:nvSpPr>
        <p:spPr>
          <a:xfrm>
            <a:off x="4160520" y="277977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原则上每万城镇常住人口 18 人</a:t>
            </a:r>
            <a:endParaRPr lang="zh-CN" sz="819"/>
          </a:p>
        </p:txBody>
      </p:sp>
      <p:sp>
        <p:nvSpPr>
          <p:cNvPr id="23" name="Text 23"/>
          <p:cNvSpPr txBox="1"/>
          <p:nvPr/>
        </p:nvSpPr>
        <p:spPr>
          <a:xfrm>
            <a:off x="7242048" y="2779776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1" dirty="0">
                <a:solidFill>
                  <a:srgbClr val="E9A23B"/>
                </a:solidFill>
                <a:latin typeface="PingFang SC"/>
                <a:ea typeface="PingFang SC"/>
              </a:rPr>
              <a:t>角色权限｜工作台｜任务协同</a:t>
            </a:r>
            <a:endParaRPr lang="zh-CN" sz="840"/>
          </a:p>
        </p:txBody>
      </p:sp>
      <p:sp>
        <p:nvSpPr>
          <p:cNvPr id="24" name="Shape 24"/>
          <p:cNvSpPr/>
          <p:nvPr/>
        </p:nvSpPr>
        <p:spPr>
          <a:xfrm>
            <a:off x="502920" y="3346704"/>
            <a:ext cx="103052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58368" y="3483864"/>
            <a:ext cx="62179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58368" y="3502152"/>
            <a:ext cx="6217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8B631C"/>
                </a:solidFill>
                <a:latin typeface="PingFang SC"/>
                <a:ea typeface="PingFang SC"/>
              </a:rPr>
              <a:t>2024</a:t>
            </a:r>
            <a:endParaRPr lang="zh-CN" sz="850"/>
          </a:p>
        </p:txBody>
      </p:sp>
      <p:sp>
        <p:nvSpPr>
          <p:cNvPr id="27" name="Text 27"/>
          <p:cNvSpPr txBox="1"/>
          <p:nvPr/>
        </p:nvSpPr>
        <p:spPr>
          <a:xfrm>
            <a:off x="1444752" y="347472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50" b="1" dirty="0">
                <a:solidFill>
                  <a:srgbClr val="17313B"/>
                </a:solidFill>
                <a:latin typeface="PingFang SC"/>
                <a:ea typeface="PingFang SC"/>
              </a:rPr>
              <a:t>整治形式主义为基层减负</a:t>
            </a:r>
            <a:endParaRPr lang="zh-CN" sz="950"/>
          </a:p>
        </p:txBody>
      </p:sp>
      <p:sp>
        <p:nvSpPr>
          <p:cNvPr id="28" name="Text 28"/>
          <p:cNvSpPr txBox="1"/>
          <p:nvPr/>
        </p:nvSpPr>
        <p:spPr>
          <a:xfrm>
            <a:off x="4160520" y="3474720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0" dirty="0">
                <a:solidFill>
                  <a:srgbClr val="5A6E74"/>
                </a:solidFill>
                <a:latin typeface="PingFang SC"/>
                <a:ea typeface="PingFang SC"/>
              </a:rPr>
              <a:t>减少重复采集、多头报送与无效留痕</a:t>
            </a:r>
            <a:endParaRPr lang="zh-CN" sz="819"/>
          </a:p>
        </p:txBody>
      </p:sp>
      <p:sp>
        <p:nvSpPr>
          <p:cNvPr id="29" name="Text 29"/>
          <p:cNvSpPr txBox="1"/>
          <p:nvPr/>
        </p:nvSpPr>
        <p:spPr>
          <a:xfrm>
            <a:off x="7242048" y="347472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1" dirty="0">
                <a:solidFill>
                  <a:srgbClr val="506D91"/>
                </a:solidFill>
                <a:latin typeface="PingFang SC"/>
                <a:ea typeface="PingFang SC"/>
              </a:rPr>
              <a:t>一次采集｜多端复用｜自动报表</a:t>
            </a:r>
            <a:endParaRPr lang="zh-CN" sz="840"/>
          </a:p>
        </p:txBody>
      </p:sp>
      <p:sp>
        <p:nvSpPr>
          <p:cNvPr id="30" name="Shape 30"/>
          <p:cNvSpPr/>
          <p:nvPr/>
        </p:nvSpPr>
        <p:spPr>
          <a:xfrm>
            <a:off x="502920" y="4096512"/>
            <a:ext cx="10305288" cy="18288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58368" y="4105656"/>
            <a:ext cx="999439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30" b="1" dirty="0">
                <a:solidFill>
                  <a:srgbClr val="F06A4B"/>
                </a:solidFill>
                <a:latin typeface="PingFang SC"/>
                <a:ea typeface="PingFang SC"/>
              </a:rPr>
              <a:t>答辩边界：2026年政策的正式文号、条款与覆盖率指标须在提交版附官方原文截图；本页不把政策目标包装成项目既有成效。</a:t>
            </a:r>
            <a:endParaRPr lang="zh-CN" sz="630"/>
          </a:p>
        </p:txBody>
      </p:sp>
      <p:cxnSp>
        <p:nvCxnSpPr>
          <p:cNvPr id="32" name="Line 32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优先来源：十五五正式纲要/权威发布、民政部互助性养老与三级网络文件；中办国办《关于加强社区工作者队伍建设的意见》《整治形式主义为基层减负若干规定》</a:t>
            </a:r>
            <a:endParaRPr lang="zh-CN" sz="560"/>
          </a:p>
        </p:txBody>
      </p:sp>
      <p:sp>
        <p:nvSpPr>
          <p:cNvPr id="34" name="Text 34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05</a:t>
            </a:r>
            <a:endParaRPr lang="zh-CN" sz="700"/>
          </a:p>
        </p:txBody>
      </p:sp>
      <p:sp>
        <p:nvSpPr>
          <p:cNvPr id="35" name="Text 35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05 / SOLUTION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一个入口，把发现需求、建立信任、完成服务和运营反馈连成闭环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搭把手 = 社区生活地图 + 邻里互助 + 即时沟通 + 积分信用 + 运营工作台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30352" y="1353312"/>
            <a:ext cx="1508760" cy="12161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1051560" y="1536192"/>
            <a:ext cx="457200" cy="45720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51560" y="16459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 lang="zh-CN" sz="1000"/>
          </a:p>
        </p:txBody>
      </p:sp>
      <p:sp>
        <p:nvSpPr>
          <p:cNvPr id="9" name="Text 9"/>
          <p:cNvSpPr txBox="1"/>
          <p:nvPr/>
        </p:nvSpPr>
        <p:spPr>
          <a:xfrm>
            <a:off x="713232" y="204825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发现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713232" y="23042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找服务</a:t>
            </a:r>
            <a:endParaRPr lang="zh-CN" sz="700"/>
          </a:p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看活动</a:t>
            </a:r>
            <a:endParaRPr lang="zh-CN" sz="700"/>
          </a:p>
        </p:txBody>
      </p:sp>
      <p:sp>
        <p:nvSpPr>
          <p:cNvPr id="11" name="Text 11"/>
          <p:cNvSpPr txBox="1"/>
          <p:nvPr/>
        </p:nvSpPr>
        <p:spPr>
          <a:xfrm>
            <a:off x="2112264" y="18105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5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500"/>
          </a:p>
        </p:txBody>
      </p:sp>
      <p:sp>
        <p:nvSpPr>
          <p:cNvPr id="12" name="Shape 12"/>
          <p:cNvSpPr/>
          <p:nvPr/>
        </p:nvSpPr>
        <p:spPr>
          <a:xfrm>
            <a:off x="2468880" y="1353312"/>
            <a:ext cx="1508760" cy="12161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3" name="Shape 13"/>
          <p:cNvSpPr/>
          <p:nvPr/>
        </p:nvSpPr>
        <p:spPr>
          <a:xfrm>
            <a:off x="2990088" y="1536192"/>
            <a:ext cx="457200" cy="45720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990088" y="16459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 lang="zh-CN" sz="1000"/>
          </a:p>
        </p:txBody>
      </p:sp>
      <p:sp>
        <p:nvSpPr>
          <p:cNvPr id="15" name="Text 15"/>
          <p:cNvSpPr txBox="1"/>
          <p:nvPr/>
        </p:nvSpPr>
        <p:spPr>
          <a:xfrm>
            <a:off x="2651760" y="204825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发起</a:t>
            </a:r>
            <a:endParaRPr lang="zh-CN" sz="1100"/>
          </a:p>
        </p:txBody>
      </p:sp>
      <p:sp>
        <p:nvSpPr>
          <p:cNvPr id="16" name="Text 16"/>
          <p:cNvSpPr txBox="1"/>
          <p:nvPr/>
        </p:nvSpPr>
        <p:spPr>
          <a:xfrm>
            <a:off x="2651760" y="23042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喊一声</a:t>
            </a:r>
            <a:endParaRPr lang="zh-CN" sz="700"/>
          </a:p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说清时间</a:t>
            </a:r>
            <a:endParaRPr lang="zh-CN" sz="700"/>
          </a:p>
        </p:txBody>
      </p:sp>
      <p:sp>
        <p:nvSpPr>
          <p:cNvPr id="17" name="Text 17"/>
          <p:cNvSpPr txBox="1"/>
          <p:nvPr/>
        </p:nvSpPr>
        <p:spPr>
          <a:xfrm>
            <a:off x="4050791" y="18105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5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500"/>
          </a:p>
        </p:txBody>
      </p:sp>
      <p:sp>
        <p:nvSpPr>
          <p:cNvPr id="18" name="Shape 18"/>
          <p:cNvSpPr/>
          <p:nvPr/>
        </p:nvSpPr>
        <p:spPr>
          <a:xfrm>
            <a:off x="4407408" y="1353312"/>
            <a:ext cx="1508760" cy="12161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Shape 19"/>
          <p:cNvSpPr/>
          <p:nvPr/>
        </p:nvSpPr>
        <p:spPr>
          <a:xfrm>
            <a:off x="4928616" y="1536192"/>
            <a:ext cx="457200" cy="457200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928616" y="16459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 lang="zh-CN" sz="1000"/>
          </a:p>
        </p:txBody>
      </p:sp>
      <p:sp>
        <p:nvSpPr>
          <p:cNvPr id="21" name="Text 21"/>
          <p:cNvSpPr txBox="1"/>
          <p:nvPr/>
        </p:nvSpPr>
        <p:spPr>
          <a:xfrm>
            <a:off x="4590288" y="204825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匹配</a:t>
            </a:r>
            <a:endParaRPr lang="zh-CN" sz="1100"/>
          </a:p>
        </p:txBody>
      </p:sp>
      <p:sp>
        <p:nvSpPr>
          <p:cNvPr id="22" name="Text 22"/>
          <p:cNvSpPr txBox="1"/>
          <p:nvPr/>
        </p:nvSpPr>
        <p:spPr>
          <a:xfrm>
            <a:off x="4590288" y="23042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同社区</a:t>
            </a:r>
            <a:endParaRPr lang="zh-CN" sz="700"/>
          </a:p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看信任线索</a:t>
            </a:r>
            <a:endParaRPr lang="zh-CN" sz="700"/>
          </a:p>
        </p:txBody>
      </p:sp>
      <p:sp>
        <p:nvSpPr>
          <p:cNvPr id="23" name="Text 23"/>
          <p:cNvSpPr txBox="1"/>
          <p:nvPr/>
        </p:nvSpPr>
        <p:spPr>
          <a:xfrm>
            <a:off x="5989320" y="18105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5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500"/>
          </a:p>
        </p:txBody>
      </p:sp>
      <p:sp>
        <p:nvSpPr>
          <p:cNvPr id="24" name="Shape 24"/>
          <p:cNvSpPr/>
          <p:nvPr/>
        </p:nvSpPr>
        <p:spPr>
          <a:xfrm>
            <a:off x="6345936" y="1353312"/>
            <a:ext cx="1508760" cy="12161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867144" y="1536192"/>
            <a:ext cx="457200" cy="45720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867144" y="16459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 lang="zh-CN" sz="1000"/>
          </a:p>
        </p:txBody>
      </p:sp>
      <p:sp>
        <p:nvSpPr>
          <p:cNvPr id="27" name="Text 27"/>
          <p:cNvSpPr txBox="1"/>
          <p:nvPr/>
        </p:nvSpPr>
        <p:spPr>
          <a:xfrm>
            <a:off x="6528816" y="204825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完成</a:t>
            </a:r>
            <a:endParaRPr lang="zh-CN" sz="1100"/>
          </a:p>
        </p:txBody>
      </p:sp>
      <p:sp>
        <p:nvSpPr>
          <p:cNvPr id="28" name="Text 28"/>
          <p:cNvSpPr txBox="1"/>
          <p:nvPr/>
        </p:nvSpPr>
        <p:spPr>
          <a:xfrm>
            <a:off x="6528816" y="23042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私聊协作</a:t>
            </a:r>
            <a:endParaRPr lang="zh-CN" sz="700"/>
          </a:p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双方确认</a:t>
            </a:r>
            <a:endParaRPr lang="zh-CN" sz="700"/>
          </a:p>
        </p:txBody>
      </p:sp>
      <p:sp>
        <p:nvSpPr>
          <p:cNvPr id="29" name="Text 29"/>
          <p:cNvSpPr txBox="1"/>
          <p:nvPr/>
        </p:nvSpPr>
        <p:spPr>
          <a:xfrm>
            <a:off x="7927848" y="18105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5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500"/>
          </a:p>
        </p:txBody>
      </p:sp>
      <p:sp>
        <p:nvSpPr>
          <p:cNvPr id="30" name="Shape 30"/>
          <p:cNvSpPr/>
          <p:nvPr/>
        </p:nvSpPr>
        <p:spPr>
          <a:xfrm>
            <a:off x="8284464" y="1353312"/>
            <a:ext cx="1508760" cy="12161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805672" y="1536192"/>
            <a:ext cx="457200" cy="45720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805672" y="16459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 lang="zh-CN" sz="1000"/>
          </a:p>
        </p:txBody>
      </p:sp>
      <p:sp>
        <p:nvSpPr>
          <p:cNvPr id="33" name="Text 33"/>
          <p:cNvSpPr txBox="1"/>
          <p:nvPr/>
        </p:nvSpPr>
        <p:spPr>
          <a:xfrm>
            <a:off x="8467344" y="204825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沉淀</a:t>
            </a:r>
            <a:endParaRPr lang="zh-CN" sz="1100"/>
          </a:p>
        </p:txBody>
      </p:sp>
      <p:sp>
        <p:nvSpPr>
          <p:cNvPr id="34" name="Text 34"/>
          <p:cNvSpPr txBox="1"/>
          <p:nvPr/>
        </p:nvSpPr>
        <p:spPr>
          <a:xfrm>
            <a:off x="8467344" y="23042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积分信用</a:t>
            </a:r>
            <a:endParaRPr lang="zh-CN" sz="700"/>
          </a:p>
          <a:p>
            <a:pPr alg="ctr"/>
            <a:r>
              <a:rPr lang="zh-CN" sz="700" b="0" dirty="0">
                <a:solidFill>
                  <a:srgbClr val="5A6E74"/>
                </a:solidFill>
                <a:latin typeface="PingFang SC"/>
                <a:ea typeface="PingFang SC"/>
              </a:rPr>
              <a:t>运营反馈</a:t>
            </a:r>
            <a:endParaRPr lang="zh-CN" sz="700"/>
          </a:p>
        </p:txBody>
      </p:sp>
      <p:sp>
        <p:nvSpPr>
          <p:cNvPr id="35" name="Shape 35"/>
          <p:cNvSpPr/>
          <p:nvPr/>
        </p:nvSpPr>
        <p:spPr>
          <a:xfrm>
            <a:off x="530352" y="2907792"/>
            <a:ext cx="3218688" cy="9601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758952" y="3108960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2F6B5F"/>
                </a:solidFill>
                <a:latin typeface="PingFang SC"/>
                <a:ea typeface="PingFang SC"/>
              </a:rPr>
              <a:t>居民端</a:t>
            </a:r>
            <a:endParaRPr lang="zh-CN" sz="1200"/>
          </a:p>
        </p:txBody>
      </p:sp>
      <p:sp>
        <p:nvSpPr>
          <p:cNvPr id="37" name="Text 37"/>
          <p:cNvSpPr txBox="1"/>
          <p:nvPr/>
        </p:nvSpPr>
        <p:spPr>
          <a:xfrm>
            <a:off x="1490472" y="3063240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愿意打开</a:t>
            </a:r>
            <a:endParaRPr lang="zh-CN" sz="830"/>
          </a:p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关键操作 3 步内完成</a:t>
            </a:r>
            <a:endParaRPr lang="zh-CN" sz="830"/>
          </a:p>
        </p:txBody>
      </p:sp>
      <p:sp>
        <p:nvSpPr>
          <p:cNvPr id="38" name="Shape 38"/>
          <p:cNvSpPr/>
          <p:nvPr/>
        </p:nvSpPr>
        <p:spPr>
          <a:xfrm>
            <a:off x="4023360" y="2907792"/>
            <a:ext cx="3218688" cy="9601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4251960" y="3108960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9A6818"/>
                </a:solidFill>
                <a:latin typeface="PingFang SC"/>
                <a:ea typeface="PingFang SC"/>
              </a:rPr>
              <a:t>社区端</a:t>
            </a:r>
            <a:endParaRPr lang="zh-CN" sz="1200"/>
          </a:p>
        </p:txBody>
      </p:sp>
      <p:sp>
        <p:nvSpPr>
          <p:cNvPr id="40" name="Text 40"/>
          <p:cNvSpPr txBox="1"/>
          <p:nvPr/>
        </p:nvSpPr>
        <p:spPr>
          <a:xfrm>
            <a:off x="4983480" y="3063240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不重复录入</a:t>
            </a:r>
            <a:endParaRPr lang="zh-CN" sz="830"/>
          </a:p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行为自动形成运营数据</a:t>
            </a:r>
            <a:endParaRPr lang="zh-CN" sz="830"/>
          </a:p>
        </p:txBody>
      </p:sp>
      <p:sp>
        <p:nvSpPr>
          <p:cNvPr id="41" name="Shape 41"/>
          <p:cNvSpPr/>
          <p:nvPr/>
        </p:nvSpPr>
        <p:spPr>
          <a:xfrm>
            <a:off x="7516368" y="2907792"/>
            <a:ext cx="3218688" cy="960120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7744968" y="3108960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F06A4B"/>
                </a:solidFill>
                <a:latin typeface="PingFang SC"/>
                <a:ea typeface="PingFang SC"/>
              </a:rPr>
              <a:t>社工端</a:t>
            </a:r>
            <a:endParaRPr lang="zh-CN" sz="1200"/>
          </a:p>
        </p:txBody>
      </p:sp>
      <p:sp>
        <p:nvSpPr>
          <p:cNvPr id="43" name="Text 43"/>
          <p:cNvSpPr txBox="1"/>
          <p:nvPr/>
        </p:nvSpPr>
        <p:spPr>
          <a:xfrm>
            <a:off x="8476488" y="3063240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有任务边界</a:t>
            </a:r>
            <a:endParaRPr lang="zh-CN" sz="830"/>
          </a:p>
          <a:p>
            <a:pPr alg="l"/>
            <a:r>
              <a:rPr lang="zh-CN" sz="830" b="0" dirty="0">
                <a:solidFill>
                  <a:srgbClr val="5A6E74"/>
                </a:solidFill>
                <a:latin typeface="PingFang SC"/>
                <a:ea typeface="PingFang SC"/>
              </a:rPr>
              <a:t>事实记录、授权与审核</a:t>
            </a:r>
            <a:endParaRPr lang="zh-CN" sz="830"/>
          </a:p>
        </p:txBody>
      </p:sp>
      <p:cxnSp>
        <p:nvCxnSpPr>
          <p:cNvPr id="44" name="Line 44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45" name="Text 45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当前MVP已实现：公共服务审核发布、居民意向、邻里互助、私聊、积分结算、活动报名、社工跟进与审计日志</a:t>
            </a:r>
            <a:endParaRPr lang="zh-CN" sz="560"/>
          </a:p>
        </p:txBody>
      </p:sp>
      <p:sp>
        <p:nvSpPr>
          <p:cNvPr id="46" name="Text 46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06</a:t>
            </a:r>
            <a:endParaRPr lang="zh-CN" sz="700"/>
          </a:p>
        </p:txBody>
      </p:sp>
      <p:sp>
        <p:nvSpPr>
          <p:cNvPr id="47" name="Text 47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06 / RESIDENT DEMO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居民端：找得到、喊得出、信得过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普通版覆盖高频社区生活，关怀版降低数字能力门槛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66928" y="1188720"/>
            <a:ext cx="2057400" cy="2834640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30936" y="1261872"/>
            <a:ext cx="1929384" cy="2688336"/>
          </a:xfrm>
          <a:prstGeom prst="roundRect">
            <a:avLst/>
          </a:prstGeom>
          <a:solidFill>
            <a:srgbClr val="F7F8F4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328166" y="1216152"/>
            <a:ext cx="534924" cy="73152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1520" y="1353312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搭把手 · 社区地图</a:t>
            </a:r>
            <a:endParaRPr lang="zh-CN" sz="819"/>
          </a:p>
        </p:txBody>
      </p:sp>
      <p:sp>
        <p:nvSpPr>
          <p:cNvPr id="10" name="Shape 10"/>
          <p:cNvSpPr/>
          <p:nvPr/>
        </p:nvSpPr>
        <p:spPr>
          <a:xfrm>
            <a:off x="731520" y="1664208"/>
            <a:ext cx="1728216" cy="713232"/>
          </a:xfrm>
          <a:prstGeom prst="roundRect">
            <a:avLst/>
          </a:prstGeom>
          <a:solidFill>
            <a:srgbClr val="DFEEE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41247" y="177393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50" b="1" dirty="0">
                <a:solidFill>
                  <a:srgbClr val="17313B"/>
                </a:solidFill>
                <a:latin typeface="PingFang SC"/>
                <a:ea typeface="PingFang SC"/>
              </a:rPr>
              <a:t>今天需要哪方面的搭把手？</a:t>
            </a:r>
            <a:endParaRPr lang="zh-CN" sz="850"/>
          </a:p>
        </p:txBody>
      </p:sp>
      <p:sp>
        <p:nvSpPr>
          <p:cNvPr id="12" name="Shape 12"/>
          <p:cNvSpPr/>
          <p:nvPr/>
        </p:nvSpPr>
        <p:spPr>
          <a:xfrm>
            <a:off x="832103" y="2066543"/>
            <a:ext cx="1527048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14400" y="2093976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80" b="0" dirty="0">
                <a:solidFill>
                  <a:srgbClr val="94A4A8"/>
                </a:solidFill>
                <a:latin typeface="PingFang SC"/>
                <a:ea typeface="PingFang SC"/>
              </a:rPr>
              <a:t>搜索社区服务</a:t>
            </a:r>
            <a:endParaRPr lang="zh-CN" sz="580"/>
          </a:p>
        </p:txBody>
      </p:sp>
      <p:sp>
        <p:nvSpPr>
          <p:cNvPr id="14" name="Shape 14"/>
          <p:cNvSpPr/>
          <p:nvPr/>
        </p:nvSpPr>
        <p:spPr>
          <a:xfrm>
            <a:off x="731520" y="2542032"/>
            <a:ext cx="1728216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22960" y="2624328"/>
            <a:ext cx="256032" cy="256032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70432" y="2624328"/>
            <a:ext cx="117957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公共服务</a:t>
            </a:r>
            <a:endParaRPr lang="zh-CN" sz="720"/>
          </a:p>
        </p:txBody>
      </p:sp>
      <p:sp>
        <p:nvSpPr>
          <p:cNvPr id="17" name="Text 17"/>
          <p:cNvSpPr txBox="1"/>
          <p:nvPr/>
        </p:nvSpPr>
        <p:spPr>
          <a:xfrm>
            <a:off x="1170432" y="2779776"/>
            <a:ext cx="1179576" cy="1005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20" b="0" dirty="0">
                <a:solidFill>
                  <a:srgbClr val="5A6E74"/>
                </a:solidFill>
                <a:latin typeface="PingFang SC"/>
                <a:ea typeface="PingFang SC"/>
              </a:rPr>
              <a:t>查看附近可用信息与状态</a:t>
            </a:r>
            <a:endParaRPr lang="zh-CN" sz="520"/>
          </a:p>
        </p:txBody>
      </p:sp>
      <p:sp>
        <p:nvSpPr>
          <p:cNvPr id="18" name="Shape 18"/>
          <p:cNvSpPr/>
          <p:nvPr/>
        </p:nvSpPr>
        <p:spPr>
          <a:xfrm>
            <a:off x="731520" y="3072384"/>
            <a:ext cx="1728216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22960" y="3154680"/>
            <a:ext cx="256032" cy="256032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170432" y="3154680"/>
            <a:ext cx="117957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邻里互助</a:t>
            </a:r>
            <a:endParaRPr lang="zh-CN" sz="720"/>
          </a:p>
        </p:txBody>
      </p:sp>
      <p:sp>
        <p:nvSpPr>
          <p:cNvPr id="21" name="Text 21"/>
          <p:cNvSpPr txBox="1"/>
          <p:nvPr/>
        </p:nvSpPr>
        <p:spPr>
          <a:xfrm>
            <a:off x="1170432" y="3310128"/>
            <a:ext cx="1179576" cy="1005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20" b="0" dirty="0">
                <a:solidFill>
                  <a:srgbClr val="5A6E74"/>
                </a:solidFill>
                <a:latin typeface="PingFang SC"/>
                <a:ea typeface="PingFang SC"/>
              </a:rPr>
              <a:t>查看附近可用信息与状态</a:t>
            </a:r>
            <a:endParaRPr lang="zh-CN" sz="520"/>
          </a:p>
        </p:txBody>
      </p:sp>
      <p:sp>
        <p:nvSpPr>
          <p:cNvPr id="22" name="Shape 22"/>
          <p:cNvSpPr/>
          <p:nvPr/>
        </p:nvSpPr>
        <p:spPr>
          <a:xfrm>
            <a:off x="731520" y="3602736"/>
            <a:ext cx="1728216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3" name="Shape 23"/>
          <p:cNvSpPr/>
          <p:nvPr/>
        </p:nvSpPr>
        <p:spPr>
          <a:xfrm>
            <a:off x="822960" y="3685032"/>
            <a:ext cx="256032" cy="256032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170432" y="3685032"/>
            <a:ext cx="117957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社区活动</a:t>
            </a:r>
            <a:endParaRPr lang="zh-CN" sz="720"/>
          </a:p>
        </p:txBody>
      </p:sp>
      <p:sp>
        <p:nvSpPr>
          <p:cNvPr id="25" name="Text 25"/>
          <p:cNvSpPr txBox="1"/>
          <p:nvPr/>
        </p:nvSpPr>
        <p:spPr>
          <a:xfrm>
            <a:off x="1170432" y="3840480"/>
            <a:ext cx="1179576" cy="1005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20" b="0" dirty="0">
                <a:solidFill>
                  <a:srgbClr val="5A6E74"/>
                </a:solidFill>
                <a:latin typeface="PingFang SC"/>
                <a:ea typeface="PingFang SC"/>
              </a:rPr>
              <a:t>查看附近可用信息与状态</a:t>
            </a:r>
            <a:endParaRPr lang="zh-CN" sz="520"/>
          </a:p>
        </p:txBody>
      </p:sp>
      <p:sp>
        <p:nvSpPr>
          <p:cNvPr id="26" name="Shape 26"/>
          <p:cNvSpPr/>
          <p:nvPr/>
        </p:nvSpPr>
        <p:spPr>
          <a:xfrm>
            <a:off x="731520" y="3520440"/>
            <a:ext cx="1728216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768096" y="3593592"/>
            <a:ext cx="1655064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20" b="1" dirty="0">
                <a:solidFill>
                  <a:srgbClr val="2F6B5F"/>
                </a:solidFill>
                <a:latin typeface="PingFang SC"/>
                <a:ea typeface="PingFang SC"/>
              </a:rPr>
              <a:t>地图        邻里圈        我的</a:t>
            </a:r>
            <a:endParaRPr lang="zh-CN" sz="620"/>
          </a:p>
        </p:txBody>
      </p:sp>
      <p:sp>
        <p:nvSpPr>
          <p:cNvPr id="28" name="Shape 28"/>
          <p:cNvSpPr/>
          <p:nvPr/>
        </p:nvSpPr>
        <p:spPr>
          <a:xfrm>
            <a:off x="2816352" y="1188720"/>
            <a:ext cx="2057400" cy="2834640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2880360" y="1261872"/>
            <a:ext cx="1929384" cy="2688336"/>
          </a:xfrm>
          <a:prstGeom prst="roundRect">
            <a:avLst/>
          </a:prstGeom>
          <a:solidFill>
            <a:srgbClr val="F7F8F4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3577590" y="1216152"/>
            <a:ext cx="534924" cy="73152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2980944" y="1353312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搭把手 · 关怀版</a:t>
            </a:r>
            <a:endParaRPr lang="zh-CN" sz="819"/>
          </a:p>
        </p:txBody>
      </p:sp>
      <p:sp>
        <p:nvSpPr>
          <p:cNvPr id="32" name="Shape 32"/>
          <p:cNvSpPr/>
          <p:nvPr/>
        </p:nvSpPr>
        <p:spPr>
          <a:xfrm>
            <a:off x="2980944" y="1691640"/>
            <a:ext cx="1728216" cy="585216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3044952" y="1856232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FFFFFF"/>
                </a:solidFill>
                <a:latin typeface="PingFang SC"/>
                <a:ea typeface="PingFang SC"/>
              </a:rPr>
              <a:t>一键求助</a:t>
            </a:r>
            <a:endParaRPr lang="zh-CN" sz="1200"/>
          </a:p>
        </p:txBody>
      </p:sp>
      <p:sp>
        <p:nvSpPr>
          <p:cNvPr id="34" name="Shape 34"/>
          <p:cNvSpPr/>
          <p:nvPr/>
        </p:nvSpPr>
        <p:spPr>
          <a:xfrm>
            <a:off x="2980944" y="2487168"/>
            <a:ext cx="8183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3026664" y="2670048"/>
            <a:ext cx="7726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报平安</a:t>
            </a:r>
            <a:endParaRPr lang="zh-CN" sz="830"/>
          </a:p>
        </p:txBody>
      </p:sp>
      <p:sp>
        <p:nvSpPr>
          <p:cNvPr id="36" name="Shape 36"/>
          <p:cNvSpPr/>
          <p:nvPr/>
        </p:nvSpPr>
        <p:spPr>
          <a:xfrm>
            <a:off x="3881628" y="2487168"/>
            <a:ext cx="8183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3927348" y="2670048"/>
            <a:ext cx="7726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防诈骗</a:t>
            </a:r>
            <a:endParaRPr lang="zh-CN" sz="830"/>
          </a:p>
        </p:txBody>
      </p:sp>
      <p:sp>
        <p:nvSpPr>
          <p:cNvPr id="38" name="Shape 38"/>
          <p:cNvSpPr/>
          <p:nvPr/>
        </p:nvSpPr>
        <p:spPr>
          <a:xfrm>
            <a:off x="2980944" y="3182111"/>
            <a:ext cx="8183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3026664" y="3364991"/>
            <a:ext cx="7726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用药提醒</a:t>
            </a:r>
            <a:endParaRPr lang="zh-CN" sz="830"/>
          </a:p>
        </p:txBody>
      </p:sp>
      <p:sp>
        <p:nvSpPr>
          <p:cNvPr id="40" name="Shape 40"/>
          <p:cNvSpPr/>
          <p:nvPr/>
        </p:nvSpPr>
        <p:spPr>
          <a:xfrm>
            <a:off x="3881628" y="3182111"/>
            <a:ext cx="81838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3927348" y="3364991"/>
            <a:ext cx="7726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申请帮扶</a:t>
            </a:r>
            <a:endParaRPr lang="zh-CN" sz="830"/>
          </a:p>
        </p:txBody>
      </p:sp>
      <p:sp>
        <p:nvSpPr>
          <p:cNvPr id="42" name="Shape 42"/>
          <p:cNvSpPr/>
          <p:nvPr/>
        </p:nvSpPr>
        <p:spPr>
          <a:xfrm>
            <a:off x="5212080" y="1207008"/>
            <a:ext cx="2505456" cy="1069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3" name="Shape 43"/>
          <p:cNvSpPr/>
          <p:nvPr/>
        </p:nvSpPr>
        <p:spPr>
          <a:xfrm>
            <a:off x="5376672" y="1371600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5376672" y="138074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2F6B5F"/>
                </a:solidFill>
                <a:latin typeface="PingFang SC"/>
                <a:ea typeface="PingFang SC"/>
              </a:rPr>
              <a:t>找</a:t>
            </a:r>
            <a:endParaRPr lang="zh-CN" sz="1200"/>
          </a:p>
        </p:txBody>
      </p:sp>
      <p:sp>
        <p:nvSpPr>
          <p:cNvPr id="45" name="Text 45"/>
          <p:cNvSpPr txBox="1"/>
          <p:nvPr/>
        </p:nvSpPr>
        <p:spPr>
          <a:xfrm>
            <a:off x="5806440" y="1362456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01 找服务</a:t>
            </a:r>
            <a:endParaRPr lang="zh-CN" sz="1100"/>
          </a:p>
        </p:txBody>
      </p:sp>
      <p:sp>
        <p:nvSpPr>
          <p:cNvPr id="46" name="Text 46"/>
          <p:cNvSpPr txBox="1"/>
          <p:nvPr/>
        </p:nvSpPr>
        <p:spPr>
          <a:xfrm>
            <a:off x="5394960" y="1737360"/>
            <a:ext cx="2139696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公共服务、空间、活动、公告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按社区和状态统一呈现</a:t>
            </a:r>
            <a:endParaRPr lang="zh-CN" sz="840"/>
          </a:p>
        </p:txBody>
      </p:sp>
      <p:sp>
        <p:nvSpPr>
          <p:cNvPr id="47" name="Shape 47"/>
          <p:cNvSpPr/>
          <p:nvPr/>
        </p:nvSpPr>
        <p:spPr>
          <a:xfrm>
            <a:off x="7918704" y="1207008"/>
            <a:ext cx="2505456" cy="1069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8" name="Shape 48"/>
          <p:cNvSpPr/>
          <p:nvPr/>
        </p:nvSpPr>
        <p:spPr>
          <a:xfrm>
            <a:off x="8083296" y="1371600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8083296" y="138074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F06A4B"/>
                </a:solidFill>
                <a:latin typeface="PingFang SC"/>
                <a:ea typeface="PingFang SC"/>
              </a:rPr>
              <a:t>喊</a:t>
            </a:r>
            <a:endParaRPr lang="zh-CN" sz="1200"/>
          </a:p>
        </p:txBody>
      </p:sp>
      <p:sp>
        <p:nvSpPr>
          <p:cNvPr id="50" name="Text 50"/>
          <p:cNvSpPr txBox="1"/>
          <p:nvPr/>
        </p:nvSpPr>
        <p:spPr>
          <a:xfrm>
            <a:off x="8513064" y="1362456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02 喊一声</a:t>
            </a:r>
            <a:endParaRPr lang="zh-CN" sz="1100"/>
          </a:p>
        </p:txBody>
      </p:sp>
      <p:sp>
        <p:nvSpPr>
          <p:cNvPr id="51" name="Text 51"/>
          <p:cNvSpPr txBox="1"/>
          <p:nvPr/>
        </p:nvSpPr>
        <p:spPr>
          <a:xfrm>
            <a:off x="8101583" y="1737360"/>
            <a:ext cx="2139696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代取、借物、照看、闲置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写清时间与积分</a:t>
            </a:r>
            <a:endParaRPr lang="zh-CN" sz="840"/>
          </a:p>
        </p:txBody>
      </p:sp>
      <p:sp>
        <p:nvSpPr>
          <p:cNvPr id="52" name="Shape 52"/>
          <p:cNvSpPr/>
          <p:nvPr/>
        </p:nvSpPr>
        <p:spPr>
          <a:xfrm>
            <a:off x="5212080" y="2468880"/>
            <a:ext cx="2505456" cy="1069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53" name="Shape 53"/>
          <p:cNvSpPr/>
          <p:nvPr/>
        </p:nvSpPr>
        <p:spPr>
          <a:xfrm>
            <a:off x="5376672" y="2633472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5376672" y="264261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E9A23B"/>
                </a:solidFill>
                <a:latin typeface="PingFang SC"/>
                <a:ea typeface="PingFang SC"/>
              </a:rPr>
              <a:t>信</a:t>
            </a:r>
            <a:endParaRPr lang="zh-CN" sz="1200"/>
          </a:p>
        </p:txBody>
      </p:sp>
      <p:sp>
        <p:nvSpPr>
          <p:cNvPr id="55" name="Text 55"/>
          <p:cNvSpPr txBox="1"/>
          <p:nvPr/>
        </p:nvSpPr>
        <p:spPr>
          <a:xfrm>
            <a:off x="5806440" y="2624328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03 看信任</a:t>
            </a:r>
            <a:endParaRPr lang="zh-CN" sz="1100"/>
          </a:p>
        </p:txBody>
      </p:sp>
      <p:sp>
        <p:nvSpPr>
          <p:cNvPr id="56" name="Text 56"/>
          <p:cNvSpPr txBox="1"/>
          <p:nvPr/>
        </p:nvSpPr>
        <p:spPr>
          <a:xfrm>
            <a:off x="5394960" y="2999232"/>
            <a:ext cx="2139696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社区身份、信用、帮助次数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高风险需求转人工</a:t>
            </a:r>
            <a:endParaRPr lang="zh-CN" sz="840"/>
          </a:p>
        </p:txBody>
      </p:sp>
      <p:sp>
        <p:nvSpPr>
          <p:cNvPr id="57" name="Shape 57"/>
          <p:cNvSpPr/>
          <p:nvPr/>
        </p:nvSpPr>
        <p:spPr>
          <a:xfrm>
            <a:off x="7918704" y="2468880"/>
            <a:ext cx="2505456" cy="1069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58" name="Shape 58"/>
          <p:cNvSpPr/>
          <p:nvPr/>
        </p:nvSpPr>
        <p:spPr>
          <a:xfrm>
            <a:off x="8083296" y="2633472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59" name="Text 59"/>
          <p:cNvSpPr txBox="1"/>
          <p:nvPr/>
        </p:nvSpPr>
        <p:spPr>
          <a:xfrm>
            <a:off x="8083296" y="264261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506D91"/>
                </a:solidFill>
                <a:latin typeface="PingFang SC"/>
                <a:ea typeface="PingFang SC"/>
              </a:rPr>
              <a:t>成</a:t>
            </a:r>
            <a:endParaRPr lang="zh-CN" sz="1200"/>
          </a:p>
        </p:txBody>
      </p:sp>
      <p:sp>
        <p:nvSpPr>
          <p:cNvPr id="60" name="Text 60"/>
          <p:cNvSpPr txBox="1"/>
          <p:nvPr/>
        </p:nvSpPr>
        <p:spPr>
          <a:xfrm>
            <a:off x="8513064" y="2624328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04 完成闭环</a:t>
            </a:r>
            <a:endParaRPr lang="zh-CN" sz="1100"/>
          </a:p>
        </p:txBody>
      </p:sp>
      <p:sp>
        <p:nvSpPr>
          <p:cNvPr id="61" name="Text 61"/>
          <p:cNvSpPr txBox="1"/>
          <p:nvPr/>
        </p:nvSpPr>
        <p:spPr>
          <a:xfrm>
            <a:off x="8101583" y="2999232"/>
            <a:ext cx="2139696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一键响应、私聊协作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双方确认后积分结算</a:t>
            </a:r>
            <a:endParaRPr lang="zh-CN" sz="840"/>
          </a:p>
        </p:txBody>
      </p:sp>
      <p:sp>
        <p:nvSpPr>
          <p:cNvPr id="62" name="Text 62"/>
          <p:cNvSpPr txBox="1"/>
          <p:nvPr/>
        </p:nvSpPr>
        <p:spPr>
          <a:xfrm>
            <a:off x="5248656" y="3822191"/>
            <a:ext cx="51572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20" b="1" dirty="0">
                <a:solidFill>
                  <a:srgbClr val="2F6B5F"/>
                </a:solidFill>
                <a:latin typeface="PingFang SC"/>
                <a:ea typeface="PingFang SC"/>
              </a:rPr>
              <a:t>真实演示路由：#/resident  ·  #/resident/services</a:t>
            </a:r>
            <a:endParaRPr lang="zh-CN" sz="720"/>
          </a:p>
        </p:txBody>
      </p:sp>
      <p:cxnSp>
        <p:nvCxnSpPr>
          <p:cNvPr id="63" name="Line 63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64" name="Text 64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界面示意依据项目设计系统绘制；正式路演前替换为真实运行截图。关怀版不是简单放大字体，而是减少信息密度、强化操作动词和风险提示。</a:t>
            </a:r>
            <a:endParaRPr lang="zh-CN" sz="560"/>
          </a:p>
        </p:txBody>
      </p:sp>
      <p:sp>
        <p:nvSpPr>
          <p:cNvPr id="65" name="Text 65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07</a:t>
            </a:r>
            <a:endParaRPr lang="zh-CN" sz="700"/>
          </a:p>
        </p:txBody>
      </p:sp>
      <p:sp>
        <p:nvSpPr>
          <p:cNvPr id="66" name="Text 66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07 / COMMUNITY DEMO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社区与社工端：把一次服务从发现办到有反馈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真实公开供给先核验再发布，居民意向形成聚合信号，社工按授权跟进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30352" y="1188720"/>
            <a:ext cx="5623560" cy="2880360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3503" y="1271016"/>
            <a:ext cx="5477256" cy="2679191"/>
          </a:xfrm>
          <a:prstGeom prst="rect">
            <a:avLst/>
          </a:prstGeom>
          <a:solidFill>
            <a:srgbClr val="F7F8F4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603503" y="1271016"/>
            <a:ext cx="1051560" cy="2679191"/>
          </a:xfrm>
          <a:prstGeom prst="rect">
            <a:avLst/>
          </a:prstGeom>
          <a:solidFill>
            <a:srgbClr val="24483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49808" y="1444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FFFFFF"/>
                </a:solidFill>
                <a:latin typeface="PingFang SC"/>
                <a:ea typeface="PingFang SC"/>
              </a:rPr>
              <a:t>搭把手</a:t>
            </a:r>
            <a:endParaRPr lang="zh-CN" sz="900"/>
          </a:p>
        </p:txBody>
      </p:sp>
      <p:sp>
        <p:nvSpPr>
          <p:cNvPr id="10" name="Text 10"/>
          <p:cNvSpPr txBox="1"/>
          <p:nvPr/>
        </p:nvSpPr>
        <p:spPr>
          <a:xfrm>
            <a:off x="713232" y="1938528"/>
            <a:ext cx="8412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630" b="1" dirty="0">
                <a:solidFill>
                  <a:srgbClr val="DDE8E4"/>
                </a:solidFill>
                <a:latin typeface="PingFang SC"/>
                <a:ea typeface="PingFang SC"/>
              </a:rPr>
              <a:t>今日工作台</a:t>
            </a:r>
            <a:endParaRPr lang="zh-CN" sz="630"/>
          </a:p>
        </p:txBody>
      </p:sp>
      <p:sp>
        <p:nvSpPr>
          <p:cNvPr id="11" name="Text 11"/>
          <p:cNvSpPr txBox="1"/>
          <p:nvPr/>
        </p:nvSpPr>
        <p:spPr>
          <a:xfrm>
            <a:off x="713232" y="2377440"/>
            <a:ext cx="8412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630" b="0" dirty="0">
                <a:solidFill>
                  <a:srgbClr val="DDE8E4"/>
                </a:solidFill>
                <a:latin typeface="PingFang SC"/>
                <a:ea typeface="PingFang SC"/>
              </a:rPr>
              <a:t>公共服务</a:t>
            </a:r>
            <a:endParaRPr lang="zh-CN" sz="630"/>
          </a:p>
        </p:txBody>
      </p:sp>
      <p:sp>
        <p:nvSpPr>
          <p:cNvPr id="12" name="Text 12"/>
          <p:cNvSpPr txBox="1"/>
          <p:nvPr/>
        </p:nvSpPr>
        <p:spPr>
          <a:xfrm>
            <a:off x="713232" y="2816352"/>
            <a:ext cx="8412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630" b="0" dirty="0">
                <a:solidFill>
                  <a:srgbClr val="DDE8E4"/>
                </a:solidFill>
                <a:latin typeface="PingFang SC"/>
                <a:ea typeface="PingFang SC"/>
              </a:rPr>
              <a:t>活动运营</a:t>
            </a:r>
            <a:endParaRPr lang="zh-CN" sz="630"/>
          </a:p>
        </p:txBody>
      </p:sp>
      <p:sp>
        <p:nvSpPr>
          <p:cNvPr id="13" name="Text 13"/>
          <p:cNvSpPr txBox="1"/>
          <p:nvPr/>
        </p:nvSpPr>
        <p:spPr>
          <a:xfrm>
            <a:off x="713232" y="3255264"/>
            <a:ext cx="84124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630" b="0" dirty="0">
                <a:solidFill>
                  <a:srgbClr val="DDE8E4"/>
                </a:solidFill>
                <a:latin typeface="PingFang SC"/>
                <a:ea typeface="PingFang SC"/>
              </a:rPr>
              <a:t>居民反馈</a:t>
            </a:r>
            <a:endParaRPr lang="zh-CN" sz="630"/>
          </a:p>
        </p:txBody>
      </p:sp>
      <p:sp>
        <p:nvSpPr>
          <p:cNvPr id="14" name="Text 14"/>
          <p:cNvSpPr txBox="1"/>
          <p:nvPr/>
        </p:nvSpPr>
        <p:spPr>
          <a:xfrm>
            <a:off x="1865376" y="142646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17313B"/>
                </a:solidFill>
                <a:latin typeface="PingFang SC"/>
                <a:ea typeface="PingFang SC"/>
              </a:rPr>
              <a:t>社区今日工作台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1856231" y="1828800"/>
            <a:ext cx="1042415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1965960" y="193852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5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3</a:t>
            </a:r>
            <a:endParaRPr lang="zh-CN" sz="1500"/>
          </a:p>
        </p:txBody>
      </p:sp>
      <p:sp>
        <p:nvSpPr>
          <p:cNvPr id="17" name="Text 17"/>
          <p:cNvSpPr txBox="1"/>
          <p:nvPr/>
        </p:nvSpPr>
        <p:spPr>
          <a:xfrm>
            <a:off x="1965960" y="2240280"/>
            <a:ext cx="8229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70" b="0" dirty="0">
                <a:solidFill>
                  <a:srgbClr val="5A6E74"/>
                </a:solidFill>
                <a:latin typeface="PingFang SC"/>
                <a:ea typeface="PingFang SC"/>
              </a:rPr>
              <a:t>待核验供给</a:t>
            </a:r>
            <a:endParaRPr lang="zh-CN" sz="570"/>
          </a:p>
        </p:txBody>
      </p:sp>
      <p:sp>
        <p:nvSpPr>
          <p:cNvPr id="18" name="Shape 18"/>
          <p:cNvSpPr/>
          <p:nvPr/>
        </p:nvSpPr>
        <p:spPr>
          <a:xfrm>
            <a:off x="3081528" y="1828800"/>
            <a:ext cx="1042415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3191256" y="193852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5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2</a:t>
            </a:r>
            <a:endParaRPr lang="zh-CN" sz="1500"/>
          </a:p>
        </p:txBody>
      </p:sp>
      <p:sp>
        <p:nvSpPr>
          <p:cNvPr id="20" name="Text 20"/>
          <p:cNvSpPr txBox="1"/>
          <p:nvPr/>
        </p:nvSpPr>
        <p:spPr>
          <a:xfrm>
            <a:off x="3191256" y="2240280"/>
            <a:ext cx="8229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70" b="0" dirty="0">
                <a:solidFill>
                  <a:srgbClr val="5A6E74"/>
                </a:solidFill>
                <a:latin typeface="PingFang SC"/>
                <a:ea typeface="PingFang SC"/>
              </a:rPr>
              <a:t>今日活动</a:t>
            </a:r>
            <a:endParaRPr lang="zh-CN" sz="570"/>
          </a:p>
        </p:txBody>
      </p:sp>
      <p:sp>
        <p:nvSpPr>
          <p:cNvPr id="21" name="Shape 21"/>
          <p:cNvSpPr/>
          <p:nvPr/>
        </p:nvSpPr>
        <p:spPr>
          <a:xfrm>
            <a:off x="4306824" y="1828800"/>
            <a:ext cx="1042415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416552" y="193852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500" b="1" dirty="0">
                <a:solidFill>
                  <a:srgbClr val="2F6B5F"/>
                </a:solidFill>
                <a:latin typeface="Avenir Next Condensed"/>
                <a:ea typeface="Avenir Next Condensed"/>
              </a:rPr>
              <a:t>1</a:t>
            </a:r>
            <a:endParaRPr lang="zh-CN" sz="1500"/>
          </a:p>
        </p:txBody>
      </p:sp>
      <p:sp>
        <p:nvSpPr>
          <p:cNvPr id="23" name="Text 23"/>
          <p:cNvSpPr txBox="1"/>
          <p:nvPr/>
        </p:nvSpPr>
        <p:spPr>
          <a:xfrm>
            <a:off x="4416552" y="2240280"/>
            <a:ext cx="8229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70" b="0" dirty="0">
                <a:solidFill>
                  <a:srgbClr val="5A6E74"/>
                </a:solidFill>
                <a:latin typeface="PingFang SC"/>
                <a:ea typeface="PingFang SC"/>
              </a:rPr>
              <a:t>居民跟进</a:t>
            </a:r>
            <a:endParaRPr lang="zh-CN" sz="570"/>
          </a:p>
        </p:txBody>
      </p:sp>
      <p:sp>
        <p:nvSpPr>
          <p:cNvPr id="24" name="Shape 24"/>
          <p:cNvSpPr/>
          <p:nvPr/>
        </p:nvSpPr>
        <p:spPr>
          <a:xfrm>
            <a:off x="1856231" y="2724912"/>
            <a:ext cx="40233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029967" y="288036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真实供给审核队列</a:t>
            </a:r>
            <a:endParaRPr lang="zh-CN" sz="819"/>
          </a:p>
        </p:txBody>
      </p:sp>
      <p:sp>
        <p:nvSpPr>
          <p:cNvPr id="26" name="Text 26"/>
          <p:cNvSpPr txBox="1"/>
          <p:nvPr/>
        </p:nvSpPr>
        <p:spPr>
          <a:xfrm>
            <a:off x="2039112" y="3182112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80" b="0" dirty="0">
                <a:solidFill>
                  <a:srgbClr val="5A6E74"/>
                </a:solidFill>
                <a:latin typeface="PingFang SC"/>
                <a:ea typeface="PingFang SC"/>
              </a:rPr>
              <a:t>西红门医院三伏贴 · 3 项待核验</a:t>
            </a:r>
            <a:endParaRPr lang="zh-CN" sz="580"/>
          </a:p>
        </p:txBody>
      </p:sp>
      <p:sp>
        <p:nvSpPr>
          <p:cNvPr id="27" name="Text 27"/>
          <p:cNvSpPr txBox="1"/>
          <p:nvPr/>
        </p:nvSpPr>
        <p:spPr>
          <a:xfrm>
            <a:off x="2039112" y="3392424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80" b="0" dirty="0">
                <a:solidFill>
                  <a:srgbClr val="5A6E74"/>
                </a:solidFill>
                <a:latin typeface="PingFang SC"/>
                <a:ea typeface="PingFang SC"/>
              </a:rPr>
              <a:t>暑期研学营 · 余量待确认</a:t>
            </a:r>
            <a:endParaRPr lang="zh-CN" sz="580"/>
          </a:p>
        </p:txBody>
      </p:sp>
      <p:sp>
        <p:nvSpPr>
          <p:cNvPr id="28" name="Text 28"/>
          <p:cNvSpPr txBox="1"/>
          <p:nvPr/>
        </p:nvSpPr>
        <p:spPr>
          <a:xfrm>
            <a:off x="2039112" y="3602736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580" b="0" dirty="0">
                <a:solidFill>
                  <a:srgbClr val="5A6E74"/>
                </a:solidFill>
                <a:latin typeface="PingFang SC"/>
                <a:ea typeface="PingFang SC"/>
              </a:rPr>
              <a:t>7 月招聘活动 · 明细待拆分</a:t>
            </a:r>
            <a:endParaRPr lang="zh-CN" sz="580"/>
          </a:p>
        </p:txBody>
      </p:sp>
      <p:sp>
        <p:nvSpPr>
          <p:cNvPr id="29" name="Shape 29"/>
          <p:cNvSpPr/>
          <p:nvPr/>
        </p:nvSpPr>
        <p:spPr>
          <a:xfrm>
            <a:off x="6382512" y="1188720"/>
            <a:ext cx="1874519" cy="2880360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6446520" y="1261872"/>
            <a:ext cx="1746503" cy="2734056"/>
          </a:xfrm>
          <a:prstGeom prst="roundRect">
            <a:avLst/>
          </a:prstGeom>
          <a:solidFill>
            <a:srgbClr val="F7F8F4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7076084" y="1216152"/>
            <a:ext cx="487375" cy="73152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47104" y="1353312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社工今日任务</a:t>
            </a:r>
            <a:endParaRPr lang="zh-CN" sz="819"/>
          </a:p>
        </p:txBody>
      </p:sp>
      <p:sp>
        <p:nvSpPr>
          <p:cNvPr id="33" name="Shape 33"/>
          <p:cNvSpPr/>
          <p:nvPr/>
        </p:nvSpPr>
        <p:spPr>
          <a:xfrm>
            <a:off x="6547104" y="1691640"/>
            <a:ext cx="1545336" cy="585216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6611112" y="1856232"/>
            <a:ext cx="14173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FFFFFF"/>
                </a:solidFill>
                <a:latin typeface="PingFang SC"/>
                <a:ea typeface="PingFang SC"/>
              </a:rPr>
              <a:t>一键求助</a:t>
            </a:r>
            <a:endParaRPr lang="zh-CN" sz="1200"/>
          </a:p>
        </p:txBody>
      </p:sp>
      <p:sp>
        <p:nvSpPr>
          <p:cNvPr id="35" name="Shape 35"/>
          <p:cNvSpPr/>
          <p:nvPr/>
        </p:nvSpPr>
        <p:spPr>
          <a:xfrm>
            <a:off x="6547104" y="2487168"/>
            <a:ext cx="7269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592824" y="2670048"/>
            <a:ext cx="68122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报平安</a:t>
            </a:r>
            <a:endParaRPr lang="zh-CN" sz="830"/>
          </a:p>
        </p:txBody>
      </p:sp>
      <p:sp>
        <p:nvSpPr>
          <p:cNvPr id="37" name="Shape 37"/>
          <p:cNvSpPr/>
          <p:nvPr/>
        </p:nvSpPr>
        <p:spPr>
          <a:xfrm>
            <a:off x="7356348" y="2487168"/>
            <a:ext cx="7269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7402068" y="2670048"/>
            <a:ext cx="68122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防诈骗</a:t>
            </a:r>
            <a:endParaRPr lang="zh-CN" sz="830"/>
          </a:p>
        </p:txBody>
      </p:sp>
      <p:sp>
        <p:nvSpPr>
          <p:cNvPr id="39" name="Shape 39"/>
          <p:cNvSpPr/>
          <p:nvPr/>
        </p:nvSpPr>
        <p:spPr>
          <a:xfrm>
            <a:off x="6547104" y="3182111"/>
            <a:ext cx="7269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6592824" y="3364991"/>
            <a:ext cx="68122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用药提醒</a:t>
            </a:r>
            <a:endParaRPr lang="zh-CN" sz="830"/>
          </a:p>
        </p:txBody>
      </p:sp>
      <p:sp>
        <p:nvSpPr>
          <p:cNvPr id="41" name="Shape 41"/>
          <p:cNvSpPr/>
          <p:nvPr/>
        </p:nvSpPr>
        <p:spPr>
          <a:xfrm>
            <a:off x="7356348" y="3182111"/>
            <a:ext cx="72694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402068" y="3364991"/>
            <a:ext cx="68122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30" b="1" dirty="0">
                <a:solidFill>
                  <a:srgbClr val="17313B"/>
                </a:solidFill>
                <a:latin typeface="PingFang SC"/>
                <a:ea typeface="PingFang SC"/>
              </a:rPr>
              <a:t>申请帮扶</a:t>
            </a:r>
            <a:endParaRPr lang="zh-CN" sz="830"/>
          </a:p>
        </p:txBody>
      </p:sp>
      <p:sp>
        <p:nvSpPr>
          <p:cNvPr id="43" name="Shape 43"/>
          <p:cNvSpPr/>
          <p:nvPr/>
        </p:nvSpPr>
        <p:spPr>
          <a:xfrm>
            <a:off x="8522208" y="1188720"/>
            <a:ext cx="2286000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8759952" y="1426464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17313B"/>
                </a:solidFill>
                <a:latin typeface="PingFang SC"/>
                <a:ea typeface="PingFang SC"/>
              </a:rPr>
              <a:t>公共服务闭环</a:t>
            </a:r>
            <a:endParaRPr lang="zh-CN" sz="1200"/>
          </a:p>
        </p:txBody>
      </p:sp>
      <p:sp>
        <p:nvSpPr>
          <p:cNvPr id="45" name="Shape 45"/>
          <p:cNvSpPr/>
          <p:nvPr/>
        </p:nvSpPr>
        <p:spPr>
          <a:xfrm>
            <a:off x="8759952" y="1847088"/>
            <a:ext cx="274320" cy="27432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8759952" y="1901952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50" b="1" dirty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 lang="zh-CN" sz="650"/>
          </a:p>
        </p:txBody>
      </p:sp>
      <p:sp>
        <p:nvSpPr>
          <p:cNvPr id="47" name="Text 47"/>
          <p:cNvSpPr txBox="1"/>
          <p:nvPr/>
        </p:nvSpPr>
        <p:spPr>
          <a:xfrm>
            <a:off x="9162288" y="1892807"/>
            <a:ext cx="1353312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40" b="0" dirty="0">
                <a:solidFill>
                  <a:srgbClr val="5A6E74"/>
                </a:solidFill>
                <a:latin typeface="PingFang SC"/>
                <a:ea typeface="PingFang SC"/>
              </a:rPr>
              <a:t>接入公开来源</a:t>
            </a:r>
            <a:endParaRPr lang="zh-CN" sz="740"/>
          </a:p>
        </p:txBody>
      </p:sp>
      <p:sp>
        <p:nvSpPr>
          <p:cNvPr id="48" name="Shape 48"/>
          <p:cNvSpPr/>
          <p:nvPr/>
        </p:nvSpPr>
        <p:spPr>
          <a:xfrm>
            <a:off x="8759952" y="2240280"/>
            <a:ext cx="274320" cy="27432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8759952" y="229514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50" b="1" dirty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 lang="zh-CN" sz="650"/>
          </a:p>
        </p:txBody>
      </p:sp>
      <p:sp>
        <p:nvSpPr>
          <p:cNvPr id="50" name="Text 50"/>
          <p:cNvSpPr txBox="1"/>
          <p:nvPr/>
        </p:nvSpPr>
        <p:spPr>
          <a:xfrm>
            <a:off x="9162288" y="2286000"/>
            <a:ext cx="1353312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40" b="0" dirty="0">
                <a:solidFill>
                  <a:srgbClr val="5A6E74"/>
                </a:solidFill>
                <a:latin typeface="PingFang SC"/>
                <a:ea typeface="PingFang SC"/>
              </a:rPr>
              <a:t>核验未知字段</a:t>
            </a:r>
            <a:endParaRPr lang="zh-CN" sz="740"/>
          </a:p>
        </p:txBody>
      </p:sp>
      <p:sp>
        <p:nvSpPr>
          <p:cNvPr id="51" name="Shape 51"/>
          <p:cNvSpPr/>
          <p:nvPr/>
        </p:nvSpPr>
        <p:spPr>
          <a:xfrm>
            <a:off x="8759952" y="2633472"/>
            <a:ext cx="274320" cy="27432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8759952" y="268833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50" b="1" dirty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 lang="zh-CN" sz="650"/>
          </a:p>
        </p:txBody>
      </p:sp>
      <p:sp>
        <p:nvSpPr>
          <p:cNvPr id="53" name="Text 53"/>
          <p:cNvSpPr txBox="1"/>
          <p:nvPr/>
        </p:nvSpPr>
        <p:spPr>
          <a:xfrm>
            <a:off x="9162288" y="2679191"/>
            <a:ext cx="1353312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40" b="0" dirty="0">
                <a:solidFill>
                  <a:srgbClr val="5A6E74"/>
                </a:solidFill>
                <a:latin typeface="PingFang SC"/>
                <a:ea typeface="PingFang SC"/>
              </a:rPr>
              <a:t>社区审核发布</a:t>
            </a:r>
            <a:endParaRPr lang="zh-CN" sz="740"/>
          </a:p>
        </p:txBody>
      </p:sp>
      <p:sp>
        <p:nvSpPr>
          <p:cNvPr id="54" name="Shape 54"/>
          <p:cNvSpPr/>
          <p:nvPr/>
        </p:nvSpPr>
        <p:spPr>
          <a:xfrm>
            <a:off x="8759952" y="3026664"/>
            <a:ext cx="274320" cy="274320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8759952" y="30815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50" b="1" dirty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 lang="zh-CN" sz="650"/>
          </a:p>
        </p:txBody>
      </p:sp>
      <p:sp>
        <p:nvSpPr>
          <p:cNvPr id="56" name="Text 56"/>
          <p:cNvSpPr txBox="1"/>
          <p:nvPr/>
        </p:nvSpPr>
        <p:spPr>
          <a:xfrm>
            <a:off x="9162288" y="3072384"/>
            <a:ext cx="1353312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40" b="0" dirty="0">
                <a:solidFill>
                  <a:srgbClr val="5A6E74"/>
                </a:solidFill>
                <a:latin typeface="PingFang SC"/>
                <a:ea typeface="PingFang SC"/>
              </a:rPr>
              <a:t>居民表达意向</a:t>
            </a:r>
            <a:endParaRPr lang="zh-CN" sz="740"/>
          </a:p>
        </p:txBody>
      </p:sp>
      <p:sp>
        <p:nvSpPr>
          <p:cNvPr id="57" name="Shape 57"/>
          <p:cNvSpPr/>
          <p:nvPr/>
        </p:nvSpPr>
        <p:spPr>
          <a:xfrm>
            <a:off x="8759952" y="3419856"/>
            <a:ext cx="274320" cy="274320"/>
          </a:xfrm>
          <a:prstGeom prst="roundRect">
            <a:avLst/>
          </a:prstGeom>
          <a:solidFill>
            <a:srgbClr val="F06A4B"/>
          </a:solidFill>
          <a:ln>
            <a:noFill/>
          </a:ln>
        </p:spPr>
      </p:sp>
      <p:sp>
        <p:nvSpPr>
          <p:cNvPr id="58" name="Text 58"/>
          <p:cNvSpPr txBox="1"/>
          <p:nvPr/>
        </p:nvSpPr>
        <p:spPr>
          <a:xfrm>
            <a:off x="8759952" y="347472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50" b="1" dirty="0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 lang="zh-CN" sz="650"/>
          </a:p>
        </p:txBody>
      </p:sp>
      <p:sp>
        <p:nvSpPr>
          <p:cNvPr id="59" name="Text 59"/>
          <p:cNvSpPr txBox="1"/>
          <p:nvPr/>
        </p:nvSpPr>
        <p:spPr>
          <a:xfrm>
            <a:off x="9162288" y="3465576"/>
            <a:ext cx="1353312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40" b="1" dirty="0">
                <a:solidFill>
                  <a:srgbClr val="5A6E74"/>
                </a:solidFill>
                <a:latin typeface="PingFang SC"/>
                <a:ea typeface="PingFang SC"/>
              </a:rPr>
              <a:t>社工任务跟进</a:t>
            </a:r>
            <a:endParaRPr lang="zh-CN" sz="740"/>
          </a:p>
        </p:txBody>
      </p:sp>
      <p:cxnSp>
        <p:nvCxnSpPr>
          <p:cNvPr id="60" name="Line 60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61" name="Text 61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真实演示路由：#/tog/desktop/services · #/tog/desktop/workbench · #/tog/desktop/insights · #/tog/mobile/workbench · #/tog/mobile/visit</a:t>
            </a:r>
            <a:endParaRPr lang="zh-CN" sz="560"/>
          </a:p>
        </p:txBody>
      </p:sp>
      <p:sp>
        <p:nvSpPr>
          <p:cNvPr id="62" name="Text 62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08</a:t>
            </a:r>
            <a:endParaRPr lang="zh-CN" sz="700"/>
          </a:p>
        </p:txBody>
      </p:sp>
      <p:sp>
        <p:nvSpPr>
          <p:cNvPr id="63" name="Text 63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08 / TRUST &amp; TECH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信任来自可解释的流程，技术围绕真实业务边界搭建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不做黑箱分数，不把公开来源说成合作，不把居民意向说成官方报名</a:t>
            </a:r>
            <a:endParaRPr lang="zh-CN" sz="1050"/>
          </a:p>
        </p:txBody>
      </p:sp>
      <p:sp>
        <p:nvSpPr>
          <p:cNvPr id="6" name="Text 6"/>
          <p:cNvSpPr txBox="1"/>
          <p:nvPr/>
        </p:nvSpPr>
        <p:spPr>
          <a:xfrm>
            <a:off x="530352" y="121615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17313B"/>
                </a:solidFill>
                <a:latin typeface="PingFang SC"/>
                <a:ea typeface="PingFang SC"/>
              </a:rPr>
              <a:t>四层信任与风险边界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30352" y="1609344"/>
            <a:ext cx="470916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13232" y="170992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1" dirty="0">
                <a:solidFill>
                  <a:srgbClr val="2F6B5F"/>
                </a:solidFill>
                <a:latin typeface="PingFang SC"/>
                <a:ea typeface="PingFang SC"/>
              </a:rPr>
              <a:t>社区身份</a:t>
            </a:r>
            <a:endParaRPr lang="zh-CN" sz="830"/>
          </a:p>
        </p:txBody>
      </p:sp>
      <p:sp>
        <p:nvSpPr>
          <p:cNvPr id="9" name="Text 9"/>
          <p:cNvSpPr txBox="1"/>
          <p:nvPr/>
        </p:nvSpPr>
        <p:spPr>
          <a:xfrm>
            <a:off x="1755648" y="1700784"/>
            <a:ext cx="3246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30" b="0" dirty="0">
                <a:solidFill>
                  <a:srgbClr val="5A6E74"/>
                </a:solidFill>
                <a:latin typeface="PingFang SC"/>
                <a:ea typeface="PingFang SC"/>
              </a:rPr>
              <a:t>确认在同一社区，不默认公开精确门牌</a:t>
            </a:r>
            <a:endParaRPr lang="zh-CN" sz="730"/>
          </a:p>
        </p:txBody>
      </p:sp>
      <p:sp>
        <p:nvSpPr>
          <p:cNvPr id="10" name="Shape 10"/>
          <p:cNvSpPr/>
          <p:nvPr/>
        </p:nvSpPr>
        <p:spPr>
          <a:xfrm>
            <a:off x="530352" y="2139696"/>
            <a:ext cx="470916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13232" y="2240279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1" dirty="0">
                <a:solidFill>
                  <a:srgbClr val="2F6B5F"/>
                </a:solidFill>
                <a:latin typeface="PingFang SC"/>
                <a:ea typeface="PingFang SC"/>
              </a:rPr>
              <a:t>行为记录</a:t>
            </a:r>
            <a:endParaRPr lang="zh-CN" sz="830"/>
          </a:p>
        </p:txBody>
      </p:sp>
      <p:sp>
        <p:nvSpPr>
          <p:cNvPr id="12" name="Text 12"/>
          <p:cNvSpPr txBox="1"/>
          <p:nvPr/>
        </p:nvSpPr>
        <p:spPr>
          <a:xfrm>
            <a:off x="1755648" y="2231136"/>
            <a:ext cx="3246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30" b="0" dirty="0">
                <a:solidFill>
                  <a:srgbClr val="5A6E74"/>
                </a:solidFill>
                <a:latin typeface="PingFang SC"/>
                <a:ea typeface="PingFang SC"/>
              </a:rPr>
              <a:t>互助完成、守约、活动签到与评价可解释</a:t>
            </a:r>
            <a:endParaRPr lang="zh-CN" sz="730"/>
          </a:p>
        </p:txBody>
      </p:sp>
      <p:sp>
        <p:nvSpPr>
          <p:cNvPr id="13" name="Shape 13"/>
          <p:cNvSpPr/>
          <p:nvPr/>
        </p:nvSpPr>
        <p:spPr>
          <a:xfrm>
            <a:off x="530352" y="2670048"/>
            <a:ext cx="470916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13232" y="2770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1" dirty="0">
                <a:solidFill>
                  <a:srgbClr val="F06A4B"/>
                </a:solidFill>
                <a:latin typeface="PingFang SC"/>
                <a:ea typeface="PingFang SC"/>
              </a:rPr>
              <a:t>状态确认</a:t>
            </a:r>
            <a:endParaRPr lang="zh-CN" sz="830"/>
          </a:p>
        </p:txBody>
      </p:sp>
      <p:sp>
        <p:nvSpPr>
          <p:cNvPr id="15" name="Text 15"/>
          <p:cNvSpPr txBox="1"/>
          <p:nvPr/>
        </p:nvSpPr>
        <p:spPr>
          <a:xfrm>
            <a:off x="1755648" y="2761488"/>
            <a:ext cx="3246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30" b="0" dirty="0">
                <a:solidFill>
                  <a:srgbClr val="5A6E74"/>
                </a:solidFill>
                <a:latin typeface="PingFang SC"/>
                <a:ea typeface="PingFang SC"/>
              </a:rPr>
              <a:t>积分先托管，双方确认完成后结算</a:t>
            </a:r>
            <a:endParaRPr lang="zh-CN" sz="730"/>
          </a:p>
        </p:txBody>
      </p:sp>
      <p:sp>
        <p:nvSpPr>
          <p:cNvPr id="16" name="Shape 16"/>
          <p:cNvSpPr/>
          <p:nvPr/>
        </p:nvSpPr>
        <p:spPr>
          <a:xfrm>
            <a:off x="530352" y="3200400"/>
            <a:ext cx="470916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13232" y="3300984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30" b="1" dirty="0">
                <a:solidFill>
                  <a:srgbClr val="F06A4B"/>
                </a:solidFill>
                <a:latin typeface="PingFang SC"/>
                <a:ea typeface="PingFang SC"/>
              </a:rPr>
              <a:t>风险转介</a:t>
            </a:r>
            <a:endParaRPr lang="zh-CN" sz="830"/>
          </a:p>
        </p:txBody>
      </p:sp>
      <p:sp>
        <p:nvSpPr>
          <p:cNvPr id="18" name="Text 18"/>
          <p:cNvSpPr txBox="1"/>
          <p:nvPr/>
        </p:nvSpPr>
        <p:spPr>
          <a:xfrm>
            <a:off x="1755648" y="3291840"/>
            <a:ext cx="3246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30" b="0" dirty="0">
                <a:solidFill>
                  <a:srgbClr val="5A6E74"/>
                </a:solidFill>
                <a:latin typeface="PingFang SC"/>
                <a:ea typeface="PingFang SC"/>
              </a:rPr>
              <a:t>急救、借贷、进门照护转物业/社工/专业机构</a:t>
            </a:r>
            <a:endParaRPr lang="zh-CN" sz="730"/>
          </a:p>
        </p:txBody>
      </p:sp>
      <p:sp>
        <p:nvSpPr>
          <p:cNvPr id="19" name="Text 19"/>
          <p:cNvSpPr txBox="1"/>
          <p:nvPr/>
        </p:nvSpPr>
        <p:spPr>
          <a:xfrm>
            <a:off x="5650992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17313B"/>
                </a:solidFill>
                <a:latin typeface="PingFang SC"/>
                <a:ea typeface="PingFang SC"/>
              </a:rPr>
              <a:t>当前全栈 MVP</a:t>
            </a:r>
            <a:endParaRPr lang="zh-CN" sz="1200"/>
          </a:p>
        </p:txBody>
      </p:sp>
      <p:sp>
        <p:nvSpPr>
          <p:cNvPr id="20" name="Shape 20"/>
          <p:cNvSpPr/>
          <p:nvPr/>
        </p:nvSpPr>
        <p:spPr>
          <a:xfrm>
            <a:off x="5650992" y="1609344"/>
            <a:ext cx="51206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852160" y="1691640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React 19 + TypeScript + Vite</a:t>
            </a:r>
            <a:endParaRPr lang="zh-CN" sz="819"/>
          </a:p>
        </p:txBody>
      </p:sp>
      <p:sp>
        <p:nvSpPr>
          <p:cNvPr id="22" name="Text 22"/>
          <p:cNvSpPr txBox="1"/>
          <p:nvPr/>
        </p:nvSpPr>
        <p:spPr>
          <a:xfrm>
            <a:off x="7973568" y="1691640"/>
            <a:ext cx="2542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居民 / 社区电脑 / 社工手机</a:t>
            </a:r>
            <a:endParaRPr lang="zh-CN" sz="720"/>
          </a:p>
        </p:txBody>
      </p:sp>
      <p:sp>
        <p:nvSpPr>
          <p:cNvPr id="23" name="Shape 23"/>
          <p:cNvSpPr/>
          <p:nvPr/>
        </p:nvSpPr>
        <p:spPr>
          <a:xfrm>
            <a:off x="5650992" y="2139696"/>
            <a:ext cx="5120640" cy="420624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852160" y="2221991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FFFFFF"/>
                </a:solidFill>
                <a:latin typeface="PingFang SC"/>
                <a:ea typeface="PingFang SC"/>
              </a:rPr>
              <a:t>Express API + RBAC</a:t>
            </a:r>
            <a:endParaRPr lang="zh-CN" sz="819"/>
          </a:p>
        </p:txBody>
      </p:sp>
      <p:sp>
        <p:nvSpPr>
          <p:cNvPr id="25" name="Text 25"/>
          <p:cNvSpPr txBox="1"/>
          <p:nvPr/>
        </p:nvSpPr>
        <p:spPr>
          <a:xfrm>
            <a:off x="7973568" y="2221991"/>
            <a:ext cx="2542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E6F3EF"/>
                </a:solidFill>
                <a:latin typeface="PingFang SC"/>
                <a:ea typeface="PingFang SC"/>
              </a:rPr>
              <a:t>身份认证、角色权限、审计日志</a:t>
            </a:r>
            <a:endParaRPr lang="zh-CN" sz="720"/>
          </a:p>
        </p:txBody>
      </p:sp>
      <p:sp>
        <p:nvSpPr>
          <p:cNvPr id="26" name="Shape 26"/>
          <p:cNvSpPr/>
          <p:nvPr/>
        </p:nvSpPr>
        <p:spPr>
          <a:xfrm>
            <a:off x="5650992" y="2670048"/>
            <a:ext cx="51206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5852160" y="275234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SQLite + 领域状态</a:t>
            </a:r>
            <a:endParaRPr lang="zh-CN" sz="819"/>
          </a:p>
        </p:txBody>
      </p:sp>
      <p:sp>
        <p:nvSpPr>
          <p:cNvPr id="28" name="Text 28"/>
          <p:cNvSpPr txBox="1"/>
          <p:nvPr/>
        </p:nvSpPr>
        <p:spPr>
          <a:xfrm>
            <a:off x="7973568" y="2752344"/>
            <a:ext cx="2542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服务、活动、互助、聊天、积分、任务</a:t>
            </a:r>
            <a:endParaRPr lang="zh-CN" sz="720"/>
          </a:p>
        </p:txBody>
      </p:sp>
      <p:sp>
        <p:nvSpPr>
          <p:cNvPr id="29" name="Shape 29"/>
          <p:cNvSpPr/>
          <p:nvPr/>
        </p:nvSpPr>
        <p:spPr>
          <a:xfrm>
            <a:off x="5650992" y="3200400"/>
            <a:ext cx="51206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5852160" y="328269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19" b="1" dirty="0">
                <a:solidFill>
                  <a:srgbClr val="17313B"/>
                </a:solidFill>
                <a:latin typeface="PingFang SC"/>
                <a:ea typeface="PingFang SC"/>
              </a:rPr>
              <a:t>真实来源种子数据</a:t>
            </a:r>
            <a:endParaRPr lang="zh-CN" sz="819"/>
          </a:p>
        </p:txBody>
      </p:sp>
      <p:sp>
        <p:nvSpPr>
          <p:cNvPr id="31" name="Text 31"/>
          <p:cNvSpPr txBox="1"/>
          <p:nvPr/>
        </p:nvSpPr>
        <p:spPr>
          <a:xfrm>
            <a:off x="7973568" y="3282696"/>
            <a:ext cx="2542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18 来源、16 服务、链接与核验状态</a:t>
            </a:r>
            <a:endParaRPr lang="zh-CN" sz="720"/>
          </a:p>
        </p:txBody>
      </p:sp>
      <p:sp>
        <p:nvSpPr>
          <p:cNvPr id="32" name="Shape 32"/>
          <p:cNvSpPr/>
          <p:nvPr/>
        </p:nvSpPr>
        <p:spPr>
          <a:xfrm>
            <a:off x="5650992" y="3749039"/>
            <a:ext cx="5120640" cy="219456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815584" y="3767328"/>
            <a:ext cx="479145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670" b="1" dirty="0">
                <a:solidFill>
                  <a:srgbClr val="8B631C"/>
                </a:solidFill>
                <a:latin typeface="PingFang SC"/>
                <a:ea typeface="PingFang SC"/>
              </a:rPr>
              <a:t>上线仍需：微信认证、内容安全、隐私政策、备份监控、限流与生产部署</a:t>
            </a:r>
            <a:endParaRPr lang="zh-CN" sz="670"/>
          </a:p>
        </p:txBody>
      </p:sp>
      <p:cxnSp>
        <p:nvCxnSpPr>
          <p:cNvPr id="34" name="Line 34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5" name="Text 35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边界：居民“我想办理”仅为意向；公开服务来源不代表机构合作；医疗急救、借贷、进门照护不进入普通邻里互助。</a:t>
            </a:r>
            <a:endParaRPr lang="zh-CN" sz="560"/>
          </a:p>
        </p:txBody>
      </p:sp>
      <p:sp>
        <p:nvSpPr>
          <p:cNvPr id="36" name="Text 36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09</a:t>
            </a:r>
            <a:endParaRPr lang="zh-CN" sz="700"/>
          </a:p>
        </p:txBody>
      </p:sp>
      <p:sp>
        <p:nvSpPr>
          <p:cNvPr id="37" name="Text 37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09 / VALUE &amp; MODEL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一次居民操作，同时完成一次服务交付和一次数据沉淀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居民省心、社区减负、治理可见，价值来自同一条业务链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12064" y="1307592"/>
            <a:ext cx="3163824" cy="17007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676656" y="1472184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76656" y="148132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2F6B5F"/>
                </a:solidFill>
                <a:latin typeface="PingFang SC"/>
                <a:ea typeface="PingFang SC"/>
              </a:rPr>
              <a:t>居</a:t>
            </a:r>
            <a:endParaRPr lang="zh-CN" sz="1200"/>
          </a:p>
        </p:txBody>
      </p:sp>
      <p:sp>
        <p:nvSpPr>
          <p:cNvPr id="9" name="Text 9"/>
          <p:cNvSpPr txBox="1"/>
          <p:nvPr/>
        </p:nvSpPr>
        <p:spPr>
          <a:xfrm>
            <a:off x="1106424" y="1463039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居民｜把小事办成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94944" y="1837943"/>
            <a:ext cx="2798064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一个入口找服务、报名、预约和互助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同社区信任线索降低寻找成本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普通版与关怀版覆盖不同数字能力</a:t>
            </a:r>
            <a:endParaRPr lang="zh-CN" sz="840"/>
          </a:p>
        </p:txBody>
      </p:sp>
      <p:sp>
        <p:nvSpPr>
          <p:cNvPr id="11" name="Shape 11"/>
          <p:cNvSpPr/>
          <p:nvPr/>
        </p:nvSpPr>
        <p:spPr>
          <a:xfrm>
            <a:off x="3858768" y="1307592"/>
            <a:ext cx="3163824" cy="17007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023359" y="1472184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023359" y="148132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E9A23B"/>
                </a:solidFill>
                <a:latin typeface="PingFang SC"/>
                <a:ea typeface="PingFang SC"/>
              </a:rPr>
              <a:t>社</a:t>
            </a:r>
            <a:endParaRPr lang="zh-CN" sz="1200"/>
          </a:p>
        </p:txBody>
      </p:sp>
      <p:sp>
        <p:nvSpPr>
          <p:cNvPr id="14" name="Text 14"/>
          <p:cNvSpPr txBox="1"/>
          <p:nvPr/>
        </p:nvSpPr>
        <p:spPr>
          <a:xfrm>
            <a:off x="4453128" y="1463039"/>
            <a:ext cx="2404871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社区｜把重复工作交给系统</a:t>
            </a:r>
            <a:endParaRPr lang="zh-CN" sz="1100"/>
          </a:p>
        </p:txBody>
      </p:sp>
      <p:sp>
        <p:nvSpPr>
          <p:cNvPr id="15" name="Text 15"/>
          <p:cNvSpPr txBox="1"/>
          <p:nvPr/>
        </p:nvSpPr>
        <p:spPr>
          <a:xfrm>
            <a:off x="4041648" y="1837943"/>
            <a:ext cx="2798064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来源、审核、报名和反馈结构化沉淀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需求类型、完成率与待跟进自动汇总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社工入口直达居民，不重复登记</a:t>
            </a:r>
            <a:endParaRPr lang="zh-CN" sz="840"/>
          </a:p>
        </p:txBody>
      </p:sp>
      <p:sp>
        <p:nvSpPr>
          <p:cNvPr id="16" name="Shape 16"/>
          <p:cNvSpPr/>
          <p:nvPr/>
        </p:nvSpPr>
        <p:spPr>
          <a:xfrm>
            <a:off x="7205472" y="1307592"/>
            <a:ext cx="3163824" cy="17007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370064" y="1472184"/>
            <a:ext cx="329184" cy="3291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7370064" y="148132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1200" b="1" dirty="0">
                <a:solidFill>
                  <a:srgbClr val="F06A4B"/>
                </a:solidFill>
                <a:latin typeface="PingFang SC"/>
                <a:ea typeface="PingFang SC"/>
              </a:rPr>
              <a:t>治</a:t>
            </a:r>
            <a:endParaRPr lang="zh-CN" sz="1200"/>
          </a:p>
        </p:txBody>
      </p:sp>
      <p:sp>
        <p:nvSpPr>
          <p:cNvPr id="19" name="Text 19"/>
          <p:cNvSpPr txBox="1"/>
          <p:nvPr/>
        </p:nvSpPr>
        <p:spPr>
          <a:xfrm>
            <a:off x="7799831" y="1463039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治理｜把服务效果看见</a:t>
            </a:r>
            <a:endParaRPr lang="zh-CN" sz="1100"/>
          </a:p>
        </p:txBody>
      </p:sp>
      <p:sp>
        <p:nvSpPr>
          <p:cNvPr id="20" name="Text 20"/>
          <p:cNvSpPr txBox="1"/>
          <p:nvPr/>
        </p:nvSpPr>
        <p:spPr>
          <a:xfrm>
            <a:off x="7388352" y="1837943"/>
            <a:ext cx="2798064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从“办了多少活动”到“解决什么需求”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识别高频诉求、低触达群体和资源变化</a:t>
            </a:r>
            <a:endParaRPr lang="zh-CN" sz="840"/>
          </a:p>
          <a:p>
            <a:pPr alg="l"/>
            <a:r>
              <a:rPr lang="zh-CN" sz="840" b="0" dirty="0">
                <a:solidFill>
                  <a:srgbClr val="5A6E74"/>
                </a:solidFill>
                <a:latin typeface="PingFang SC"/>
                <a:ea typeface="PingFang SC"/>
              </a:rPr>
              <a:t>标准模型支持多社区配置复制</a:t>
            </a:r>
            <a:endParaRPr lang="zh-CN" sz="840"/>
          </a:p>
        </p:txBody>
      </p:sp>
      <p:sp>
        <p:nvSpPr>
          <p:cNvPr id="21" name="Shape 21"/>
          <p:cNvSpPr/>
          <p:nvPr/>
        </p:nvSpPr>
        <p:spPr>
          <a:xfrm>
            <a:off x="512064" y="3300984"/>
            <a:ext cx="9857232" cy="676656"/>
          </a:xfrm>
          <a:prstGeom prst="roundRect">
            <a:avLst/>
          </a:prstGeom>
          <a:solidFill>
            <a:srgbClr val="17313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58952" y="3493008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300" b="1" dirty="0">
                <a:solidFill>
                  <a:srgbClr val="FFFFFF"/>
                </a:solidFill>
                <a:latin typeface="PingFang SC"/>
                <a:ea typeface="PingFang SC"/>
              </a:rPr>
              <a:t>B2G2C 起步</a:t>
            </a:r>
            <a:endParaRPr lang="zh-CN" sz="1300"/>
          </a:p>
        </p:txBody>
      </p:sp>
      <p:sp>
        <p:nvSpPr>
          <p:cNvPr id="23" name="Text 23"/>
          <p:cNvSpPr txBox="1"/>
          <p:nvPr/>
        </p:nvSpPr>
        <p:spPr>
          <a:xfrm>
            <a:off x="2761488" y="3438144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DDE8E4"/>
                </a:solidFill>
                <a:latin typeface="PingFang SC"/>
                <a:ea typeface="PingFang SC"/>
              </a:rPr>
              <a:t>街道 / 社区运营方</a:t>
            </a:r>
            <a:endParaRPr lang="zh-CN" sz="800"/>
          </a:p>
          <a:p>
            <a:pPr alg="l"/>
            <a:r>
              <a:rPr lang="zh-CN" sz="800" b="0" dirty="0">
                <a:solidFill>
                  <a:srgbClr val="DDE8E4"/>
                </a:solidFill>
                <a:latin typeface="PingFang SC"/>
                <a:ea typeface="PingFang SC"/>
              </a:rPr>
              <a:t>长租公寓 / 园区采购</a:t>
            </a:r>
            <a:endParaRPr lang="zh-CN" sz="800"/>
          </a:p>
        </p:txBody>
      </p:sp>
      <p:sp>
        <p:nvSpPr>
          <p:cNvPr id="24" name="Text 24"/>
          <p:cNvSpPr txBox="1"/>
          <p:nvPr/>
        </p:nvSpPr>
        <p:spPr>
          <a:xfrm>
            <a:off x="5102352" y="3438144"/>
            <a:ext cx="2066543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DDE8E4"/>
                </a:solidFill>
                <a:latin typeface="PingFang SC"/>
                <a:ea typeface="PingFang SC"/>
              </a:rPr>
              <a:t>实施与年度服务</a:t>
            </a:r>
            <a:endParaRPr lang="zh-CN" sz="800"/>
          </a:p>
          <a:p>
            <a:pPr alg="l"/>
            <a:r>
              <a:rPr lang="zh-CN" sz="800" b="0" dirty="0">
                <a:solidFill>
                  <a:srgbClr val="DDE8E4"/>
                </a:solidFill>
                <a:latin typeface="PingFang SC"/>
                <a:ea typeface="PingFang SC"/>
              </a:rPr>
              <a:t>标准化 SaaS 订阅</a:t>
            </a:r>
            <a:endParaRPr lang="zh-CN" sz="800"/>
          </a:p>
        </p:txBody>
      </p:sp>
      <p:sp>
        <p:nvSpPr>
          <p:cNvPr id="25" name="Text 25"/>
          <p:cNvSpPr txBox="1"/>
          <p:nvPr/>
        </p:nvSpPr>
        <p:spPr>
          <a:xfrm>
            <a:off x="7351775" y="3438144"/>
            <a:ext cx="26700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800" b="0" dirty="0">
                <a:solidFill>
                  <a:srgbClr val="FFDCD3"/>
                </a:solidFill>
                <a:latin typeface="PingFang SC"/>
                <a:ea typeface="PingFang SC"/>
              </a:rPr>
              <a:t>居民基础功能免费</a:t>
            </a:r>
            <a:endParaRPr lang="zh-CN" sz="800"/>
          </a:p>
          <a:p>
            <a:pPr alg="l"/>
            <a:r>
              <a:rPr lang="zh-CN" sz="800" b="0" dirty="0">
                <a:solidFill>
                  <a:srgbClr val="FFDCD3"/>
                </a:solidFill>
                <a:latin typeface="PingFang SC"/>
                <a:ea typeface="PingFang SC"/>
              </a:rPr>
              <a:t>试点后验证成本与续费</a:t>
            </a:r>
            <a:endParaRPr lang="zh-CN" sz="800"/>
          </a:p>
        </p:txBody>
      </p:sp>
      <p:cxnSp>
        <p:nvCxnSpPr>
          <p:cNvPr id="26" name="Line 26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27" name="Text 27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不把“响应缩短40%”“工作量减少50%”等目标包装为已有成绩；试点重点测量人工登记时长、互助响应、活动触达、满意度与续费意愿。</a:t>
            </a:r>
            <a:endParaRPr lang="zh-CN" sz="560"/>
          </a:p>
        </p:txBody>
      </p:sp>
      <p:sp>
        <p:nvSpPr>
          <p:cNvPr id="28" name="Text 28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10</a:t>
            </a:r>
            <a:endParaRPr lang="zh-CN" sz="700"/>
          </a:p>
        </p:txBody>
      </p:sp>
      <p:sp>
        <p:nvSpPr>
          <p:cNvPr id="29" name="Text 29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10 / PILOT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先跑通一个社区，再复制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把最关键的产品假设变成可测量、可复盘的试点指标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30352" y="1344168"/>
            <a:ext cx="2212848" cy="1316736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94944" y="1508760"/>
            <a:ext cx="658368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94944" y="15270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现在</a:t>
            </a:r>
            <a:endParaRPr lang="zh-CN" sz="850"/>
          </a:p>
        </p:txBody>
      </p:sp>
      <p:sp>
        <p:nvSpPr>
          <p:cNvPr id="9" name="Text 9"/>
          <p:cNvSpPr txBox="1"/>
          <p:nvPr/>
        </p:nvSpPr>
        <p:spPr>
          <a:xfrm>
            <a:off x="694944" y="1892807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FFFFFF"/>
                </a:solidFill>
                <a:latin typeface="PingFang SC"/>
                <a:ea typeface="PingFang SC"/>
              </a:rPr>
              <a:t>三端全栈 MVP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694944" y="222199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E1F0EB"/>
                </a:solidFill>
                <a:latin typeface="PingFang SC"/>
                <a:ea typeface="PingFang SC"/>
              </a:rPr>
              <a:t>真实服务来源入库</a:t>
            </a:r>
            <a:endParaRPr lang="zh-CN" sz="720"/>
          </a:p>
          <a:p>
            <a:pPr alg="l"/>
            <a:r>
              <a:rPr lang="zh-CN" sz="720" b="0" dirty="0">
                <a:solidFill>
                  <a:srgbClr val="E1F0EB"/>
                </a:solidFill>
                <a:latin typeface="PingFang SC"/>
                <a:ea typeface="PingFang SC"/>
              </a:rPr>
              <a:t>业务闭环可演示</a:t>
            </a:r>
            <a:endParaRPr lang="zh-CN" sz="720"/>
          </a:p>
        </p:txBody>
      </p:sp>
      <p:sp>
        <p:nvSpPr>
          <p:cNvPr id="11" name="Text 11"/>
          <p:cNvSpPr txBox="1"/>
          <p:nvPr/>
        </p:nvSpPr>
        <p:spPr>
          <a:xfrm>
            <a:off x="2779776" y="1828800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4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400"/>
          </a:p>
        </p:txBody>
      </p:sp>
      <p:sp>
        <p:nvSpPr>
          <p:cNvPr id="12" name="Shape 12"/>
          <p:cNvSpPr/>
          <p:nvPr/>
        </p:nvSpPr>
        <p:spPr>
          <a:xfrm>
            <a:off x="3090672" y="1344168"/>
            <a:ext cx="2212848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3" name="Shape 13"/>
          <p:cNvSpPr/>
          <p:nvPr/>
        </p:nvSpPr>
        <p:spPr>
          <a:xfrm>
            <a:off x="3255264" y="1508760"/>
            <a:ext cx="658368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255264" y="15270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0-3月</a:t>
            </a:r>
            <a:endParaRPr lang="zh-CN" sz="850"/>
          </a:p>
        </p:txBody>
      </p:sp>
      <p:sp>
        <p:nvSpPr>
          <p:cNvPr id="15" name="Text 15"/>
          <p:cNvSpPr txBox="1"/>
          <p:nvPr/>
        </p:nvSpPr>
        <p:spPr>
          <a:xfrm>
            <a:off x="3255264" y="1892807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17313B"/>
                </a:solidFill>
                <a:latin typeface="PingFang SC"/>
                <a:ea typeface="PingFang SC"/>
              </a:rPr>
              <a:t>可上线小程序</a:t>
            </a:r>
            <a:endParaRPr lang="zh-CN" sz="1000"/>
          </a:p>
        </p:txBody>
      </p:sp>
      <p:sp>
        <p:nvSpPr>
          <p:cNvPr id="16" name="Text 16"/>
          <p:cNvSpPr txBox="1"/>
          <p:nvPr/>
        </p:nvSpPr>
        <p:spPr>
          <a:xfrm>
            <a:off x="3255264" y="222199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社区认证、订阅消息</a:t>
            </a:r>
            <a:endParaRPr lang="zh-CN" sz="720"/>
          </a:p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隐私与生产部署</a:t>
            </a:r>
            <a:endParaRPr lang="zh-CN" sz="720"/>
          </a:p>
        </p:txBody>
      </p:sp>
      <p:sp>
        <p:nvSpPr>
          <p:cNvPr id="17" name="Text 17"/>
          <p:cNvSpPr txBox="1"/>
          <p:nvPr/>
        </p:nvSpPr>
        <p:spPr>
          <a:xfrm>
            <a:off x="5340096" y="1828800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4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400"/>
          </a:p>
        </p:txBody>
      </p:sp>
      <p:sp>
        <p:nvSpPr>
          <p:cNvPr id="18" name="Shape 18"/>
          <p:cNvSpPr/>
          <p:nvPr/>
        </p:nvSpPr>
        <p:spPr>
          <a:xfrm>
            <a:off x="5650992" y="1344168"/>
            <a:ext cx="2212848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815583" y="1508760"/>
            <a:ext cx="658368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815583" y="15270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3-6月</a:t>
            </a:r>
            <a:endParaRPr lang="zh-CN" sz="850"/>
          </a:p>
        </p:txBody>
      </p:sp>
      <p:sp>
        <p:nvSpPr>
          <p:cNvPr id="21" name="Text 21"/>
          <p:cNvSpPr txBox="1"/>
          <p:nvPr/>
        </p:nvSpPr>
        <p:spPr>
          <a:xfrm>
            <a:off x="5815583" y="1892807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17313B"/>
                </a:solidFill>
                <a:latin typeface="PingFang SC"/>
                <a:ea typeface="PingFang SC"/>
              </a:rPr>
              <a:t>标杆社区验证</a:t>
            </a:r>
            <a:endParaRPr lang="zh-CN" sz="1000"/>
          </a:p>
        </p:txBody>
      </p:sp>
      <p:sp>
        <p:nvSpPr>
          <p:cNvPr id="22" name="Text 22"/>
          <p:cNvSpPr txBox="1"/>
          <p:nvPr/>
        </p:nvSpPr>
        <p:spPr>
          <a:xfrm>
            <a:off x="5815583" y="222199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需求、留存、减负</a:t>
            </a:r>
            <a:endParaRPr lang="zh-CN" sz="720"/>
          </a:p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活动与空间触达</a:t>
            </a:r>
            <a:endParaRPr lang="zh-CN" sz="720"/>
          </a:p>
        </p:txBody>
      </p:sp>
      <p:sp>
        <p:nvSpPr>
          <p:cNvPr id="23" name="Text 23"/>
          <p:cNvSpPr txBox="1"/>
          <p:nvPr/>
        </p:nvSpPr>
        <p:spPr>
          <a:xfrm>
            <a:off x="7900416" y="1828800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400" b="1" dirty="0">
                <a:solidFill>
                  <a:srgbClr val="94A4A8"/>
                </a:solidFill>
                <a:latin typeface="PingFang SC"/>
                <a:ea typeface="PingFang SC"/>
              </a:rPr>
              <a:t>→</a:t>
            </a:r>
            <a:endParaRPr lang="zh-CN" sz="1400"/>
          </a:p>
        </p:txBody>
      </p:sp>
      <p:sp>
        <p:nvSpPr>
          <p:cNvPr id="24" name="Shape 24"/>
          <p:cNvSpPr/>
          <p:nvPr/>
        </p:nvSpPr>
        <p:spPr>
          <a:xfrm>
            <a:off x="8211311" y="1344168"/>
            <a:ext cx="2212848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375903" y="1508760"/>
            <a:ext cx="658368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375903" y="152704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6-12月</a:t>
            </a:r>
            <a:endParaRPr lang="zh-CN" sz="850"/>
          </a:p>
        </p:txBody>
      </p:sp>
      <p:sp>
        <p:nvSpPr>
          <p:cNvPr id="27" name="Text 27"/>
          <p:cNvSpPr txBox="1"/>
          <p:nvPr/>
        </p:nvSpPr>
        <p:spPr>
          <a:xfrm>
            <a:off x="8375903" y="1892807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00" b="1" dirty="0">
                <a:solidFill>
                  <a:srgbClr val="17313B"/>
                </a:solidFill>
                <a:latin typeface="PingFang SC"/>
                <a:ea typeface="PingFang SC"/>
              </a:rPr>
              <a:t>区域配置复制</a:t>
            </a:r>
            <a:endParaRPr lang="zh-CN" sz="1000"/>
          </a:p>
        </p:txBody>
      </p:sp>
      <p:sp>
        <p:nvSpPr>
          <p:cNvPr id="28" name="Text 28"/>
          <p:cNvSpPr txBox="1"/>
          <p:nvPr/>
        </p:nvSpPr>
        <p:spPr>
          <a:xfrm>
            <a:off x="8375903" y="222199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运营 SOP、报表</a:t>
            </a:r>
            <a:endParaRPr lang="zh-CN" sz="720"/>
          </a:p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权限和接口标准</a:t>
            </a:r>
            <a:endParaRPr lang="zh-CN" sz="720"/>
          </a:p>
        </p:txBody>
      </p:sp>
      <p:sp>
        <p:nvSpPr>
          <p:cNvPr id="29" name="Text 29"/>
          <p:cNvSpPr txBox="1"/>
          <p:nvPr/>
        </p:nvSpPr>
        <p:spPr>
          <a:xfrm>
            <a:off x="530352" y="299008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200" b="1" dirty="0">
                <a:solidFill>
                  <a:srgbClr val="17313B"/>
                </a:solidFill>
                <a:latin typeface="PingFang SC"/>
                <a:ea typeface="PingFang SC"/>
              </a:rPr>
              <a:t>首个试点只看 5 个指标</a:t>
            </a:r>
            <a:endParaRPr lang="zh-CN" sz="1200"/>
          </a:p>
        </p:txBody>
      </p:sp>
      <p:sp>
        <p:nvSpPr>
          <p:cNvPr id="30" name="Shape 30"/>
          <p:cNvSpPr/>
          <p:nvPr/>
        </p:nvSpPr>
        <p:spPr>
          <a:xfrm>
            <a:off x="530352" y="3364992"/>
            <a:ext cx="1755648" cy="5029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03503" y="3502152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2F6B5F"/>
                </a:solidFill>
                <a:latin typeface="PingFang SC"/>
                <a:ea typeface="PingFang SC"/>
              </a:rPr>
              <a:t>实际需求发生率</a:t>
            </a:r>
            <a:endParaRPr lang="zh-CN" sz="800"/>
          </a:p>
        </p:txBody>
      </p:sp>
      <p:sp>
        <p:nvSpPr>
          <p:cNvPr id="32" name="Shape 32"/>
          <p:cNvSpPr/>
          <p:nvPr/>
        </p:nvSpPr>
        <p:spPr>
          <a:xfrm>
            <a:off x="2542032" y="3364992"/>
            <a:ext cx="1755648" cy="5029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2615184" y="3502152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2F6B5F"/>
                </a:solidFill>
                <a:latin typeface="PingFang SC"/>
                <a:ea typeface="PingFang SC"/>
              </a:rPr>
              <a:t>互助响应与完成</a:t>
            </a:r>
            <a:endParaRPr lang="zh-CN" sz="800"/>
          </a:p>
        </p:txBody>
      </p:sp>
      <p:sp>
        <p:nvSpPr>
          <p:cNvPr id="34" name="Shape 34"/>
          <p:cNvSpPr/>
          <p:nvPr/>
        </p:nvSpPr>
        <p:spPr>
          <a:xfrm>
            <a:off x="4553712" y="3364992"/>
            <a:ext cx="1755648" cy="5029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4626864" y="3502152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2F6B5F"/>
                </a:solidFill>
                <a:latin typeface="PingFang SC"/>
                <a:ea typeface="PingFang SC"/>
              </a:rPr>
              <a:t>7/30日留存</a:t>
            </a:r>
            <a:endParaRPr lang="zh-CN" sz="800"/>
          </a:p>
        </p:txBody>
      </p:sp>
      <p:sp>
        <p:nvSpPr>
          <p:cNvPr id="36" name="Shape 36"/>
          <p:cNvSpPr/>
          <p:nvPr/>
        </p:nvSpPr>
        <p:spPr>
          <a:xfrm>
            <a:off x="6565392" y="3364992"/>
            <a:ext cx="1755648" cy="5029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6638544" y="3502152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8B631C"/>
                </a:solidFill>
                <a:latin typeface="PingFang SC"/>
                <a:ea typeface="PingFang SC"/>
              </a:rPr>
              <a:t>社区人工时长</a:t>
            </a:r>
            <a:endParaRPr lang="zh-CN" sz="800"/>
          </a:p>
        </p:txBody>
      </p:sp>
      <p:sp>
        <p:nvSpPr>
          <p:cNvPr id="38" name="Shape 38"/>
          <p:cNvSpPr/>
          <p:nvPr/>
        </p:nvSpPr>
        <p:spPr>
          <a:xfrm>
            <a:off x="8577072" y="3364992"/>
            <a:ext cx="1755648" cy="5029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650224" y="3502152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8B631C"/>
                </a:solidFill>
                <a:latin typeface="PingFang SC"/>
                <a:ea typeface="PingFang SC"/>
              </a:rPr>
              <a:t>居民满意与风险</a:t>
            </a:r>
            <a:endParaRPr lang="zh-CN" sz="800"/>
          </a:p>
        </p:txBody>
      </p:sp>
      <p:cxnSp>
        <p:nvCxnSpPr>
          <p:cNvPr id="40" name="Line 40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41" name="Text 41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建议首轮西红门/大兴探索性问卷 n≥120，按18-34岁、35-59岁、60岁及以上分层；明确便利样本边界，不外推全区。</a:t>
            </a:r>
            <a:endParaRPr lang="zh-CN" sz="560"/>
          </a:p>
        </p:txBody>
      </p:sp>
      <p:sp>
        <p:nvSpPr>
          <p:cNvPr id="42" name="Text 42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11</a:t>
            </a:r>
            <a:endParaRPr lang="zh-CN" sz="700"/>
          </a:p>
        </p:txBody>
      </p:sp>
      <p:sp>
        <p:nvSpPr>
          <p:cNvPr id="43" name="Text 43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THANK YOU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566928" y="585216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3800" b="1" dirty="0">
                <a:solidFill>
                  <a:srgbClr val="17313B"/>
                </a:solidFill>
                <a:latin typeface="PingFang SC"/>
                <a:ea typeface="PingFang SC"/>
              </a:rPr>
              <a:t>搭把手</a:t>
            </a:r>
            <a:endParaRPr lang="zh-CN" sz="3800"/>
          </a:p>
        </p:txBody>
      </p:sp>
      <p:sp>
        <p:nvSpPr>
          <p:cNvPr id="5" name="Text 5"/>
          <p:cNvSpPr txBox="1"/>
          <p:nvPr/>
        </p:nvSpPr>
        <p:spPr>
          <a:xfrm>
            <a:off x="603504" y="12984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900" b="1" dirty="0">
                <a:solidFill>
                  <a:srgbClr val="2F6B5F"/>
                </a:solidFill>
                <a:latin typeface="PingFang SC"/>
                <a:ea typeface="PingFang SC"/>
              </a:rPr>
              <a:t>让居民找得到、喊得出、信得过</a:t>
            </a:r>
            <a:endParaRPr lang="zh-CN" sz="1900"/>
          </a:p>
        </p:txBody>
      </p:sp>
      <p:sp>
        <p:nvSpPr>
          <p:cNvPr id="6" name="Text 6"/>
          <p:cNvSpPr txBox="1"/>
          <p:nvPr/>
        </p:nvSpPr>
        <p:spPr>
          <a:xfrm>
            <a:off x="603504" y="199339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F06A4B"/>
                </a:solidFill>
                <a:latin typeface="PingFang SC"/>
                <a:ea typeface="PingFang SC"/>
              </a:rPr>
              <a:t>一个入口</a:t>
            </a:r>
            <a:endParaRPr lang="zh-CN" sz="1100"/>
          </a:p>
        </p:txBody>
      </p:sp>
      <p:sp>
        <p:nvSpPr>
          <p:cNvPr id="7" name="Text 7"/>
          <p:cNvSpPr txBox="1"/>
          <p:nvPr/>
        </p:nvSpPr>
        <p:spPr>
          <a:xfrm>
            <a:off x="1536192" y="1993392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连接互助、公共服务、活动与社工</a:t>
            </a:r>
            <a:endParaRPr lang="zh-CN" sz="1100"/>
          </a:p>
        </p:txBody>
      </p:sp>
      <p:sp>
        <p:nvSpPr>
          <p:cNvPr id="8" name="Text 8"/>
          <p:cNvSpPr txBox="1"/>
          <p:nvPr/>
        </p:nvSpPr>
        <p:spPr>
          <a:xfrm>
            <a:off x="603504" y="251460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F06A4B"/>
                </a:solidFill>
                <a:latin typeface="PingFang SC"/>
                <a:ea typeface="PingFang SC"/>
              </a:rPr>
              <a:t>三端闭环</a:t>
            </a:r>
            <a:endParaRPr lang="zh-CN" sz="1100"/>
          </a:p>
        </p:txBody>
      </p:sp>
      <p:sp>
        <p:nvSpPr>
          <p:cNvPr id="9" name="Text 9"/>
          <p:cNvSpPr txBox="1"/>
          <p:nvPr/>
        </p:nvSpPr>
        <p:spPr>
          <a:xfrm>
            <a:off x="1536192" y="2514600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居民使用，社区运营，社工跟进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603504" y="303580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F06A4B"/>
                </a:solidFill>
                <a:latin typeface="PingFang SC"/>
                <a:ea typeface="PingFang SC"/>
              </a:rPr>
              <a:t>真实边界</a:t>
            </a:r>
            <a:endParaRPr lang="zh-CN" sz="1100"/>
          </a:p>
        </p:txBody>
      </p:sp>
      <p:sp>
        <p:nvSpPr>
          <p:cNvPr id="11" name="Text 11"/>
          <p:cNvSpPr txBox="1"/>
          <p:nvPr/>
        </p:nvSpPr>
        <p:spPr>
          <a:xfrm>
            <a:off x="1536192" y="3035808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100" b="1" dirty="0">
                <a:solidFill>
                  <a:srgbClr val="17313B"/>
                </a:solidFill>
                <a:latin typeface="PingFang SC"/>
                <a:ea typeface="PingFang SC"/>
              </a:rPr>
              <a:t>来源可溯、未知可见、效果待验证</a:t>
            </a:r>
            <a:endParaRPr lang="zh-CN" sz="1100"/>
          </a:p>
        </p:txBody>
      </p:sp>
      <p:sp>
        <p:nvSpPr>
          <p:cNvPr id="12" name="Shape 12"/>
          <p:cNvSpPr/>
          <p:nvPr/>
        </p:nvSpPr>
        <p:spPr>
          <a:xfrm>
            <a:off x="6510528" y="566928"/>
            <a:ext cx="4242816" cy="3236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876288" y="987552"/>
            <a:ext cx="349300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800" b="1" dirty="0">
                <a:solidFill>
                  <a:srgbClr val="17313B"/>
                </a:solidFill>
                <a:latin typeface="PingFang SC"/>
                <a:ea typeface="PingFang SC"/>
              </a:rPr>
              <a:t>现场演示</a:t>
            </a:r>
            <a:endParaRPr lang="zh-CN" sz="1800"/>
          </a:p>
        </p:txBody>
      </p:sp>
      <p:sp>
        <p:nvSpPr>
          <p:cNvPr id="14" name="Shape 14"/>
          <p:cNvSpPr/>
          <p:nvPr/>
        </p:nvSpPr>
        <p:spPr>
          <a:xfrm>
            <a:off x="7662672" y="1536192"/>
            <a:ext cx="1207008" cy="1207008"/>
          </a:xfrm>
          <a:prstGeom prst="rect">
            <a:avLst/>
          </a:prstGeom>
          <a:solidFill>
            <a:srgbClr val="E8F2F3"/>
          </a:solidFill>
          <a:ln w="9525">
            <a:solidFill>
              <a:srgbClr val="2F6B5F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662672" y="195681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二维码</a:t>
            </a:r>
            <a:endParaRPr lang="zh-CN" sz="900"/>
          </a:p>
          <a:p>
            <a:pPr alg="ctr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占位</a:t>
            </a:r>
            <a:endParaRPr lang="zh-CN" sz="900"/>
          </a:p>
        </p:txBody>
      </p:sp>
      <p:sp>
        <p:nvSpPr>
          <p:cNvPr id="16" name="Text 16"/>
          <p:cNvSpPr txBox="1"/>
          <p:nvPr/>
        </p:nvSpPr>
        <p:spPr>
          <a:xfrm>
            <a:off x="6967728" y="3008376"/>
            <a:ext cx="331012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0" dirty="0">
                <a:solidFill>
                  <a:srgbClr val="5A6E74"/>
                </a:solidFill>
                <a:latin typeface="PingFang SC"/>
                <a:ea typeface="PingFang SC"/>
              </a:rPr>
              <a:t>http://localhost:3000/#/demo</a:t>
            </a:r>
            <a:endParaRPr lang="zh-CN" sz="850"/>
          </a:p>
          <a:p>
            <a:pPr alg="ctr"/>
            <a:r>
              <a:rPr lang="zh-CN" sz="850" b="0" dirty="0">
                <a:solidFill>
                  <a:srgbClr val="5A6E74"/>
                </a:solidFill>
                <a:latin typeface="PingFang SC"/>
                <a:ea typeface="PingFang SC"/>
              </a:rPr>
              <a:t>部署后替换为公开演示地址</a:t>
            </a:r>
            <a:endParaRPr lang="zh-CN" sz="850"/>
          </a:p>
        </p:txBody>
      </p:sp>
      <p:sp>
        <p:nvSpPr>
          <p:cNvPr id="17" name="Text 17"/>
          <p:cNvSpPr txBox="1"/>
          <p:nvPr/>
        </p:nvSpPr>
        <p:spPr>
          <a:xfrm>
            <a:off x="6858000" y="3493008"/>
            <a:ext cx="35295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1100" b="1" dirty="0">
                <a:solidFill>
                  <a:srgbClr val="2F6B5F"/>
                </a:solidFill>
                <a:latin typeface="PingFang SC"/>
                <a:ea typeface="PingFang SC"/>
              </a:rPr>
              <a:t>谢谢大家，期待交流</a:t>
            </a:r>
            <a:endParaRPr lang="zh-CN" sz="1100"/>
          </a:p>
        </p:txBody>
      </p:sp>
      <p:cxnSp>
        <p:nvCxnSpPr>
          <p:cNvPr id="18" name="Line 18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19" name="Text 19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GitHub: Beatrice-orb/Linkhood｜团队名称、路演人、联系方式与主办方Logo请在提交前替换</a:t>
            </a:r>
            <a:endParaRPr lang="zh-CN" sz="56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APPENDIX A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居民需求证据：什么能证明，什么不能证明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答辩时先说证据等级和适用边界，再说数字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02920" y="1271016"/>
            <a:ext cx="1600200" cy="384048"/>
          </a:xfrm>
          <a:prstGeom prst="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137160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FFFFFF"/>
                </a:solidFill>
                <a:latin typeface="PingFang SC"/>
                <a:ea typeface="PingFang SC"/>
              </a:rPr>
              <a:t>证据等级</a:t>
            </a:r>
            <a:endParaRPr lang="zh-CN" sz="800"/>
          </a:p>
        </p:txBody>
      </p:sp>
      <p:sp>
        <p:nvSpPr>
          <p:cNvPr id="8" name="Shape 8"/>
          <p:cNvSpPr/>
          <p:nvPr/>
        </p:nvSpPr>
        <p:spPr>
          <a:xfrm>
            <a:off x="2103120" y="1271016"/>
            <a:ext cx="2926080" cy="384048"/>
          </a:xfrm>
          <a:prstGeom prst="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2148839" y="137160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FFFFFF"/>
                </a:solidFill>
                <a:latin typeface="PingFang SC"/>
                <a:ea typeface="PingFang SC"/>
              </a:rPr>
              <a:t>当前证据</a:t>
            </a:r>
            <a:endParaRPr lang="zh-CN" sz="800"/>
          </a:p>
        </p:txBody>
      </p:sp>
      <p:sp>
        <p:nvSpPr>
          <p:cNvPr id="10" name="Shape 10"/>
          <p:cNvSpPr/>
          <p:nvPr/>
        </p:nvSpPr>
        <p:spPr>
          <a:xfrm>
            <a:off x="5029200" y="1271016"/>
            <a:ext cx="2834640" cy="384048"/>
          </a:xfrm>
          <a:prstGeom prst="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74920" y="137160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FFFFFF"/>
                </a:solidFill>
                <a:latin typeface="PingFang SC"/>
                <a:ea typeface="PingFang SC"/>
              </a:rPr>
              <a:t>可以证明</a:t>
            </a:r>
            <a:endParaRPr lang="zh-CN" sz="800"/>
          </a:p>
        </p:txBody>
      </p:sp>
      <p:sp>
        <p:nvSpPr>
          <p:cNvPr id="12" name="Shape 12"/>
          <p:cNvSpPr/>
          <p:nvPr/>
        </p:nvSpPr>
        <p:spPr>
          <a:xfrm>
            <a:off x="7863840" y="1271016"/>
            <a:ext cx="2834640" cy="384048"/>
          </a:xfrm>
          <a:prstGeom prst="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909560" y="137160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800" b="1" dirty="0">
                <a:solidFill>
                  <a:srgbClr val="FFFFFF"/>
                </a:solidFill>
                <a:latin typeface="PingFang SC"/>
                <a:ea typeface="PingFang SC"/>
              </a:rPr>
              <a:t>不能证明</a:t>
            </a:r>
            <a:endParaRPr lang="zh-CN" sz="800"/>
          </a:p>
        </p:txBody>
      </p:sp>
      <p:sp>
        <p:nvSpPr>
          <p:cNvPr id="14" name="Shape 14"/>
          <p:cNvSpPr/>
          <p:nvPr/>
        </p:nvSpPr>
        <p:spPr>
          <a:xfrm>
            <a:off x="502920" y="1682496"/>
            <a:ext cx="1600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94360" y="1801368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A 国家统计</a:t>
            </a:r>
            <a:endParaRPr lang="zh-CN" sz="720"/>
          </a:p>
        </p:txBody>
      </p:sp>
      <p:sp>
        <p:nvSpPr>
          <p:cNvPr id="16" name="Shape 16"/>
          <p:cNvSpPr/>
          <p:nvPr/>
        </p:nvSpPr>
        <p:spPr>
          <a:xfrm>
            <a:off x="2103120" y="1682496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2194560" y="1801368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3.1031亿60+人口；10.40亿短视频用户</a:t>
            </a:r>
            <a:endParaRPr lang="zh-CN" sz="720"/>
          </a:p>
        </p:txBody>
      </p:sp>
      <p:sp>
        <p:nvSpPr>
          <p:cNvPr id="18" name="Shape 18"/>
          <p:cNvSpPr/>
          <p:nvPr/>
        </p:nvSpPr>
        <p:spPr>
          <a:xfrm>
            <a:off x="5029200" y="1682496"/>
            <a:ext cx="2834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5120640" y="180136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说明规模与渠道覆盖</a:t>
            </a:r>
            <a:endParaRPr lang="zh-CN" sz="720"/>
          </a:p>
        </p:txBody>
      </p:sp>
      <p:sp>
        <p:nvSpPr>
          <p:cNvPr id="20" name="Shape 20"/>
          <p:cNvSpPr/>
          <p:nvPr/>
        </p:nvSpPr>
        <p:spPr>
          <a:xfrm>
            <a:off x="7863840" y="1682496"/>
            <a:ext cx="2834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955279" y="180136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不能直接等同需求比例</a:t>
            </a:r>
            <a:endParaRPr lang="zh-CN" sz="720"/>
          </a:p>
        </p:txBody>
      </p:sp>
      <p:sp>
        <p:nvSpPr>
          <p:cNvPr id="22" name="Shape 22"/>
          <p:cNvSpPr/>
          <p:nvPr/>
        </p:nvSpPr>
        <p:spPr>
          <a:xfrm>
            <a:off x="502920" y="2240280"/>
            <a:ext cx="160020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594360" y="2359152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B 区域样本</a:t>
            </a:r>
            <a:endParaRPr lang="zh-CN" sz="720"/>
          </a:p>
        </p:txBody>
      </p:sp>
      <p:sp>
        <p:nvSpPr>
          <p:cNvPr id="24" name="Shape 24"/>
          <p:cNvSpPr/>
          <p:nvPr/>
        </p:nvSpPr>
        <p:spPr>
          <a:xfrm>
            <a:off x="2103120" y="2240280"/>
            <a:ext cx="292608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194560" y="2359152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成都n=335；香港n=1,277</a:t>
            </a:r>
            <a:endParaRPr lang="zh-CN" sz="720"/>
          </a:p>
        </p:txBody>
      </p:sp>
      <p:sp>
        <p:nvSpPr>
          <p:cNvPr id="26" name="Shape 26"/>
          <p:cNvSpPr/>
          <p:nvPr/>
        </p:nvSpPr>
        <p:spPr>
          <a:xfrm>
            <a:off x="5029200" y="2240280"/>
            <a:ext cx="283464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5120640" y="2359152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说明互助意愿与连接缺口</a:t>
            </a:r>
            <a:endParaRPr lang="zh-CN" sz="720"/>
          </a:p>
        </p:txBody>
      </p:sp>
      <p:sp>
        <p:nvSpPr>
          <p:cNvPr id="28" name="Shape 28"/>
          <p:cNvSpPr/>
          <p:nvPr/>
        </p:nvSpPr>
        <p:spPr>
          <a:xfrm>
            <a:off x="7863840" y="2240280"/>
            <a:ext cx="283464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955279" y="2359152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不能外推全国或西红门</a:t>
            </a:r>
            <a:endParaRPr lang="zh-CN" sz="720"/>
          </a:p>
        </p:txBody>
      </p:sp>
      <p:sp>
        <p:nvSpPr>
          <p:cNvPr id="30" name="Shape 30"/>
          <p:cNvSpPr/>
          <p:nvPr/>
        </p:nvSpPr>
        <p:spPr>
          <a:xfrm>
            <a:off x="502920" y="2798064"/>
            <a:ext cx="1600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594360" y="2916936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C 本地扫描</a:t>
            </a:r>
            <a:endParaRPr lang="zh-CN" sz="720"/>
          </a:p>
        </p:txBody>
      </p:sp>
      <p:sp>
        <p:nvSpPr>
          <p:cNvPr id="32" name="Shape 32"/>
          <p:cNvSpPr/>
          <p:nvPr/>
        </p:nvSpPr>
        <p:spPr>
          <a:xfrm>
            <a:off x="2103120" y="2798064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2194560" y="2916936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18来源、16供给、10/11字段待核验</a:t>
            </a:r>
            <a:endParaRPr lang="zh-CN" sz="720"/>
          </a:p>
        </p:txBody>
      </p:sp>
      <p:sp>
        <p:nvSpPr>
          <p:cNvPr id="34" name="Shape 34"/>
          <p:cNvSpPr/>
          <p:nvPr/>
        </p:nvSpPr>
        <p:spPr>
          <a:xfrm>
            <a:off x="5029200" y="2798064"/>
            <a:ext cx="2834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5120640" y="2916936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说明社区供给承接问题</a:t>
            </a:r>
            <a:endParaRPr lang="zh-CN" sz="720"/>
          </a:p>
        </p:txBody>
      </p:sp>
      <p:sp>
        <p:nvSpPr>
          <p:cNvPr id="36" name="Shape 36"/>
          <p:cNvSpPr/>
          <p:nvPr/>
        </p:nvSpPr>
        <p:spPr>
          <a:xfrm>
            <a:off x="7863840" y="2798064"/>
            <a:ext cx="2834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955279" y="2916936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不是居民问卷或合作数</a:t>
            </a:r>
            <a:endParaRPr lang="zh-CN" sz="720"/>
          </a:p>
        </p:txBody>
      </p:sp>
      <p:sp>
        <p:nvSpPr>
          <p:cNvPr id="38" name="Shape 38"/>
          <p:cNvSpPr/>
          <p:nvPr/>
        </p:nvSpPr>
        <p:spPr>
          <a:xfrm>
            <a:off x="502920" y="3355848"/>
            <a:ext cx="160020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594360" y="3474720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20" b="1" dirty="0">
                <a:solidFill>
                  <a:srgbClr val="17313B"/>
                </a:solidFill>
                <a:latin typeface="PingFang SC"/>
                <a:ea typeface="PingFang SC"/>
              </a:rPr>
              <a:t>D 平台快照</a:t>
            </a:r>
            <a:endParaRPr lang="zh-CN" sz="720"/>
          </a:p>
        </p:txBody>
      </p:sp>
      <p:sp>
        <p:nvSpPr>
          <p:cNvPr id="40" name="Shape 40"/>
          <p:cNvSpPr/>
          <p:nvPr/>
        </p:nvSpPr>
        <p:spPr>
          <a:xfrm>
            <a:off x="2103120" y="3355848"/>
            <a:ext cx="292608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2194560" y="347472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小红书/抖音/快手关键词页面</a:t>
            </a:r>
            <a:endParaRPr lang="zh-CN" sz="720"/>
          </a:p>
        </p:txBody>
      </p:sp>
      <p:sp>
        <p:nvSpPr>
          <p:cNvPr id="42" name="Shape 42"/>
          <p:cNvSpPr/>
          <p:nvPr/>
        </p:nvSpPr>
        <p:spPr>
          <a:xfrm>
            <a:off x="5029200" y="3355848"/>
            <a:ext cx="283464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5120640" y="3474720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说明议题讨论热度</a:t>
            </a:r>
            <a:endParaRPr lang="zh-CN" sz="720"/>
          </a:p>
        </p:txBody>
      </p:sp>
      <p:sp>
        <p:nvSpPr>
          <p:cNvPr id="44" name="Shape 44"/>
          <p:cNvSpPr/>
          <p:nvPr/>
        </p:nvSpPr>
        <p:spPr>
          <a:xfrm>
            <a:off x="7863840" y="3355848"/>
            <a:ext cx="283464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5E3DA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7955279" y="3474720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20" b="0" dirty="0">
                <a:solidFill>
                  <a:srgbClr val="5A6E74"/>
                </a:solidFill>
                <a:latin typeface="PingFang SC"/>
                <a:ea typeface="PingFang SC"/>
              </a:rPr>
              <a:t>播放量不等于参与人数</a:t>
            </a:r>
            <a:endParaRPr lang="zh-CN" sz="720"/>
          </a:p>
        </p:txBody>
      </p:sp>
      <p:sp>
        <p:nvSpPr>
          <p:cNvPr id="46" name="Shape 46"/>
          <p:cNvSpPr/>
          <p:nvPr/>
        </p:nvSpPr>
        <p:spPr>
          <a:xfrm>
            <a:off x="502920" y="3968496"/>
            <a:ext cx="10195560" cy="237744"/>
          </a:xfrm>
          <a:prstGeom prst="round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658368" y="3995928"/>
            <a:ext cx="9884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1" dirty="0">
                <a:solidFill>
                  <a:srgbClr val="F06A4B"/>
                </a:solidFill>
                <a:latin typeface="PingFang SC"/>
                <a:ea typeface="PingFang SC"/>
              </a:rPr>
              <a:t>删除：独居老人1.2亿、双职工家庭82%、平台互动增长180%等缺少可靠原始口径的数据。</a:t>
            </a:r>
            <a:endParaRPr lang="zh-CN" sz="700"/>
          </a:p>
        </p:txBody>
      </p:sp>
      <p:cxnSp>
        <p:nvCxnSpPr>
          <p:cNvPr id="48" name="Line 48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49" name="Text 49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原始链接：益宝微信公众号调查；鄰舍輔導會官网PDF；国家统计局统计公报；CNNIC报告；项目本地公开服务JSON与研究文档。</a:t>
            </a:r>
            <a:endParaRPr lang="zh-CN" sz="560"/>
          </a:p>
        </p:txBody>
      </p:sp>
      <p:sp>
        <p:nvSpPr>
          <p:cNvPr id="50" name="Text 50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13</a:t>
            </a:r>
            <a:endParaRPr lang="zh-CN" sz="700"/>
          </a:p>
        </p:txBody>
      </p:sp>
      <p:sp>
        <p:nvSpPr>
          <p:cNvPr id="51" name="Text 51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1887200" cy="4663440"/>
          </a:xfrm>
          <a:prstGeom prst="rect">
            <a:avLst/>
          </a:prstGeom>
          <a:solidFill>
            <a:srgbClr val="F8F7F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2103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900" b="1" dirty="0">
                <a:solidFill>
                  <a:srgbClr val="2F6B5F"/>
                </a:solidFill>
                <a:latin typeface="PingFang SC"/>
                <a:ea typeface="PingFang SC"/>
              </a:rPr>
              <a:t>APPENDIX B</a:t>
            </a:r>
            <a:endParaRPr lang="zh-CN" sz="900"/>
          </a:p>
        </p:txBody>
      </p:sp>
      <p:sp>
        <p:nvSpPr>
          <p:cNvPr id="4" name="Text 4"/>
          <p:cNvSpPr txBox="1"/>
          <p:nvPr/>
        </p:nvSpPr>
        <p:spPr>
          <a:xfrm>
            <a:off x="438912" y="45720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2500" b="1" dirty="0">
                <a:solidFill>
                  <a:srgbClr val="17313B"/>
                </a:solidFill>
                <a:latin typeface="PingFang SC"/>
                <a:ea typeface="PingFang SC"/>
              </a:rPr>
              <a:t>政策与数据提交前核验清单</a:t>
            </a:r>
            <a:endParaRPr lang="zh-CN" sz="2500"/>
          </a:p>
        </p:txBody>
      </p:sp>
      <p:sp>
        <p:nvSpPr>
          <p:cNvPr id="5" name="Text 5"/>
          <p:cNvSpPr txBox="1"/>
          <p:nvPr/>
        </p:nvSpPr>
        <p:spPr>
          <a:xfrm>
            <a:off x="457200" y="896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1050" b="0" dirty="0">
                <a:solidFill>
                  <a:srgbClr val="5A6E74"/>
                </a:solidFill>
                <a:latin typeface="PingFang SC"/>
                <a:ea typeface="PingFang SC"/>
              </a:rPr>
              <a:t>把正式文件截图和原始数据页带到答辩现场，比堆更多二手报道更有说服力</a:t>
            </a:r>
            <a:endParaRPr lang="zh-CN" sz="1050"/>
          </a:p>
        </p:txBody>
      </p:sp>
      <p:sp>
        <p:nvSpPr>
          <p:cNvPr id="6" name="Shape 6"/>
          <p:cNvSpPr/>
          <p:nvPr/>
        </p:nvSpPr>
        <p:spPr>
          <a:xfrm>
            <a:off x="530352" y="1298448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7" name="Shape 7"/>
          <p:cNvSpPr/>
          <p:nvPr/>
        </p:nvSpPr>
        <p:spPr>
          <a:xfrm>
            <a:off x="694944" y="1481328"/>
            <a:ext cx="804672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94944" y="1499616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十五五</a:t>
            </a:r>
            <a:endParaRPr lang="zh-CN" sz="850"/>
          </a:p>
        </p:txBody>
      </p:sp>
      <p:sp>
        <p:nvSpPr>
          <p:cNvPr id="9" name="Text 9"/>
          <p:cNvSpPr txBox="1"/>
          <p:nvPr/>
        </p:nvSpPr>
        <p:spPr>
          <a:xfrm>
            <a:off x="1645919" y="1444751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1" dirty="0">
                <a:solidFill>
                  <a:srgbClr val="5A6E74"/>
                </a:solidFill>
                <a:latin typeface="PingFang SC"/>
                <a:ea typeface="PingFang SC"/>
              </a:rPr>
              <a:t>正式纲要中基层治理、公共服务、养老、数字社会原文与页码</a:t>
            </a:r>
            <a:endParaRPr lang="zh-CN" sz="760"/>
          </a:p>
        </p:txBody>
      </p:sp>
      <p:sp>
        <p:nvSpPr>
          <p:cNvPr id="10" name="Shape 10"/>
          <p:cNvSpPr/>
          <p:nvPr/>
        </p:nvSpPr>
        <p:spPr>
          <a:xfrm>
            <a:off x="5760720" y="1298448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925312" y="1481328"/>
            <a:ext cx="804672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925312" y="1499616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互助养老</a:t>
            </a:r>
            <a:endParaRPr lang="zh-CN" sz="850"/>
          </a:p>
        </p:txBody>
      </p:sp>
      <p:sp>
        <p:nvSpPr>
          <p:cNvPr id="13" name="Text 13"/>
          <p:cNvSpPr txBox="1"/>
          <p:nvPr/>
        </p:nvSpPr>
        <p:spPr>
          <a:xfrm>
            <a:off x="6876288" y="1444751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0" dirty="0">
                <a:solidFill>
                  <a:srgbClr val="5A6E74"/>
                </a:solidFill>
                <a:latin typeface="PingFang SC"/>
                <a:ea typeface="PingFang SC"/>
              </a:rPr>
              <a:t>民政部等部门正式文件、2030指标完整名称、分母与适用范围</a:t>
            </a:r>
            <a:endParaRPr lang="zh-CN" sz="760"/>
          </a:p>
        </p:txBody>
      </p:sp>
      <p:sp>
        <p:nvSpPr>
          <p:cNvPr id="14" name="Shape 14"/>
          <p:cNvSpPr/>
          <p:nvPr/>
        </p:nvSpPr>
        <p:spPr>
          <a:xfrm>
            <a:off x="530352" y="2148840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94944" y="2331720"/>
            <a:ext cx="804672" cy="27432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94944" y="2350008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2F6B5F"/>
                </a:solidFill>
                <a:latin typeface="PingFang SC"/>
                <a:ea typeface="PingFang SC"/>
              </a:rPr>
              <a:t>三级网络</a:t>
            </a:r>
            <a:endParaRPr lang="zh-CN" sz="850"/>
          </a:p>
        </p:txBody>
      </p:sp>
      <p:sp>
        <p:nvSpPr>
          <p:cNvPr id="17" name="Text 17"/>
          <p:cNvSpPr txBox="1"/>
          <p:nvPr/>
        </p:nvSpPr>
        <p:spPr>
          <a:xfrm>
            <a:off x="1645919" y="2295144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0" dirty="0">
                <a:solidFill>
                  <a:srgbClr val="5A6E74"/>
                </a:solidFill>
                <a:latin typeface="PingFang SC"/>
                <a:ea typeface="PingFang SC"/>
              </a:rPr>
              <a:t>民函〔2026〕41号文号、发布日期、功能条款与官方页面</a:t>
            </a:r>
            <a:endParaRPr lang="zh-CN" sz="760"/>
          </a:p>
        </p:txBody>
      </p:sp>
      <p:sp>
        <p:nvSpPr>
          <p:cNvPr id="18" name="Shape 18"/>
          <p:cNvSpPr/>
          <p:nvPr/>
        </p:nvSpPr>
        <p:spPr>
          <a:xfrm>
            <a:off x="5760720" y="2148840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925312" y="2331720"/>
            <a:ext cx="80467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925312" y="2350008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8B631C"/>
                </a:solidFill>
                <a:latin typeface="PingFang SC"/>
                <a:ea typeface="PingFang SC"/>
              </a:rPr>
              <a:t>社区队伍</a:t>
            </a:r>
            <a:endParaRPr lang="zh-CN" sz="850"/>
          </a:p>
        </p:txBody>
      </p:sp>
      <p:sp>
        <p:nvSpPr>
          <p:cNvPr id="21" name="Text 21"/>
          <p:cNvSpPr txBox="1"/>
          <p:nvPr/>
        </p:nvSpPr>
        <p:spPr>
          <a:xfrm>
            <a:off x="6876288" y="2295144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0" dirty="0">
                <a:solidFill>
                  <a:srgbClr val="5A6E74"/>
                </a:solidFill>
                <a:latin typeface="PingFang SC"/>
                <a:ea typeface="PingFang SC"/>
              </a:rPr>
              <a:t>每万城镇常住人口18名社区工作者的正式政策原文</a:t>
            </a:r>
            <a:endParaRPr lang="zh-CN" sz="760"/>
          </a:p>
        </p:txBody>
      </p:sp>
      <p:sp>
        <p:nvSpPr>
          <p:cNvPr id="22" name="Shape 22"/>
          <p:cNvSpPr/>
          <p:nvPr/>
        </p:nvSpPr>
        <p:spPr>
          <a:xfrm>
            <a:off x="530352" y="2999232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94944" y="3182112"/>
            <a:ext cx="80467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94944" y="3200400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8B631C"/>
                </a:solidFill>
                <a:latin typeface="PingFang SC"/>
                <a:ea typeface="PingFang SC"/>
              </a:rPr>
              <a:t>基层减负</a:t>
            </a:r>
            <a:endParaRPr lang="zh-CN" sz="850"/>
          </a:p>
        </p:txBody>
      </p:sp>
      <p:sp>
        <p:nvSpPr>
          <p:cNvPr id="25" name="Text 25"/>
          <p:cNvSpPr txBox="1"/>
          <p:nvPr/>
        </p:nvSpPr>
        <p:spPr>
          <a:xfrm>
            <a:off x="1645919" y="3145536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0" dirty="0">
                <a:solidFill>
                  <a:srgbClr val="5A6E74"/>
                </a:solidFill>
                <a:latin typeface="PingFang SC"/>
                <a:ea typeface="PingFang SC"/>
              </a:rPr>
              <a:t>减少重复填报、群组和报表的政策原文及北京地方案例口径</a:t>
            </a:r>
            <a:endParaRPr lang="zh-CN" sz="760"/>
          </a:p>
        </p:txBody>
      </p:sp>
      <p:sp>
        <p:nvSpPr>
          <p:cNvPr id="26" name="Shape 26"/>
          <p:cNvSpPr/>
          <p:nvPr/>
        </p:nvSpPr>
        <p:spPr>
          <a:xfrm>
            <a:off x="5760720" y="2999232"/>
            <a:ext cx="4919472" cy="6766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3DA"/>
            </a:solidFill>
          </a:ln>
        </p:spPr>
      </p:sp>
      <p:sp>
        <p:nvSpPr>
          <p:cNvPr id="27" name="Shape 27"/>
          <p:cNvSpPr/>
          <p:nvPr/>
        </p:nvSpPr>
        <p:spPr>
          <a:xfrm>
            <a:off x="5925312" y="3182112"/>
            <a:ext cx="804672" cy="27432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925312" y="3200400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 fontScale="90000" lnSpcReduction="10000"/>
          </a:bodyPr>
          <a:lstStyle/>
          <a:p>
            <a:pPr alg="ctr"/>
            <a:r>
              <a:rPr lang="zh-CN" sz="850" b="1" dirty="0">
                <a:solidFill>
                  <a:srgbClr val="8B631C"/>
                </a:solidFill>
                <a:latin typeface="PingFang SC"/>
                <a:ea typeface="PingFang SC"/>
              </a:rPr>
              <a:t>平台热度</a:t>
            </a:r>
            <a:endParaRPr lang="zh-CN" sz="850"/>
          </a:p>
        </p:txBody>
      </p:sp>
      <p:sp>
        <p:nvSpPr>
          <p:cNvPr id="29" name="Text 29"/>
          <p:cNvSpPr txBox="1"/>
          <p:nvPr/>
        </p:nvSpPr>
        <p:spPr>
          <a:xfrm>
            <a:off x="6876288" y="3145536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l"/>
            <a:r>
              <a:rPr lang="zh-CN" sz="760" b="0" dirty="0">
                <a:solidFill>
                  <a:srgbClr val="5A6E74"/>
                </a:solidFill>
                <a:latin typeface="PingFang SC"/>
                <a:ea typeface="PingFang SC"/>
              </a:rPr>
              <a:t>路演前24小时原话题页截图、指标、时间、链接，不跨平台相加</a:t>
            </a:r>
            <a:endParaRPr lang="zh-CN" sz="760"/>
          </a:p>
        </p:txBody>
      </p:sp>
      <p:sp>
        <p:nvSpPr>
          <p:cNvPr id="30" name="Shape 30"/>
          <p:cNvSpPr/>
          <p:nvPr/>
        </p:nvSpPr>
        <p:spPr>
          <a:xfrm>
            <a:off x="530352" y="3986784"/>
            <a:ext cx="10149840" cy="228600"/>
          </a:xfrm>
          <a:prstGeom prst="roundRect">
            <a:avLst/>
          </a:prstGeom>
          <a:solidFill>
            <a:srgbClr val="2F6B5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713232" y="4005072"/>
            <a:ext cx="978408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ctr"/>
            <a:r>
              <a:rPr lang="zh-CN" sz="700" b="1" dirty="0">
                <a:solidFill>
                  <a:srgbClr val="FFFFFF"/>
                </a:solidFill>
                <a:latin typeface="PingFang SC"/>
                <a:ea typeface="PingFang SC"/>
              </a:rPr>
              <a:t>路演原则：相关度第一，时间第二；正式政策优先，区域样本不外推，平台热度只作趋势，本地数据保留完整来源链。</a:t>
            </a:r>
            <a:endParaRPr lang="zh-CN" sz="700"/>
          </a:p>
        </p:txBody>
      </p:sp>
      <p:cxnSp>
        <p:nvCxnSpPr>
          <p:cNvPr id="32" name="Line 32"/>
          <p:cNvCxnSpPr/>
          <p:nvPr/>
        </p:nvCxnSpPr>
        <p:spPr>
          <a:xfrm>
            <a:off x="438912" y="4370832"/>
            <a:ext cx="11009376" cy="0"/>
          </a:xfrm>
          <a:prstGeom prst="line">
            <a:avLst/>
          </a:prstGeom>
          <a:ln w="8890">
            <a:solidFill>
              <a:srgbClr val="E5E3DA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457200" y="4416552"/>
            <a:ext cx="99669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/>
          <a:lstStyle/>
          <a:p>
            <a:pPr alg="l"/>
            <a:r>
              <a:rPr lang="zh-CN" sz="560" b="0" dirty="0">
                <a:solidFill>
                  <a:srgbClr val="94A4A8"/>
                </a:solidFill>
                <a:latin typeface="PingFang SC"/>
                <a:ea typeface="PingFang SC"/>
              </a:rPr>
              <a:t>建议材料包：政策原文PDF/截图、居民调研原文、平台快照、本地18来源与16条服务数据、产品演示备用录屏。</a:t>
            </a:r>
            <a:endParaRPr lang="zh-CN" sz="560"/>
          </a:p>
        </p:txBody>
      </p:sp>
      <p:sp>
        <p:nvSpPr>
          <p:cNvPr id="34" name="Text 34"/>
          <p:cNvSpPr txBox="1"/>
          <p:nvPr/>
        </p:nvSpPr>
        <p:spPr>
          <a:xfrm>
            <a:off x="10652760" y="440740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94A4A8"/>
                </a:solidFill>
                <a:latin typeface="PingFang SC"/>
                <a:ea typeface="PingFang SC"/>
              </a:rPr>
              <a:t>14</a:t>
            </a:r>
            <a:endParaRPr lang="zh-CN" sz="700"/>
          </a:p>
        </p:txBody>
      </p:sp>
      <p:sp>
        <p:nvSpPr>
          <p:cNvPr id="35" name="Text 35"/>
          <p:cNvSpPr txBox="1"/>
          <p:nvPr/>
        </p:nvSpPr>
        <p:spPr>
          <a:xfrm>
            <a:off x="11000232" y="4407408"/>
            <a:ext cx="42976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 fontScale="90000" lnSpcReduction="10000"/>
          </a:bodyPr>
          <a:lstStyle/>
          <a:p>
            <a:pPr alg="r"/>
            <a:r>
              <a:rPr lang="zh-CN" sz="700" b="1" dirty="0">
                <a:solidFill>
                  <a:srgbClr val="2F6B5F"/>
                </a:solidFill>
                <a:latin typeface="PingFang SC"/>
                <a:ea typeface="PingFang SC"/>
              </a:rPr>
              <a:t>搭把手</a:t>
            </a:r>
            <a:endParaRPr lang="zh-CN"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学习目标动词简化表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197" y="1234967"/>
          <a:ext cx="11263991" cy="52456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4370"/>
                <a:gridCol w="1033308"/>
                <a:gridCol w="2434059"/>
                <a:gridCol w="4260167"/>
                <a:gridCol w="2922087"/>
              </a:tblGrid>
              <a:tr h="396776">
                <a:tc gridSpan="2">
                  <a:txBody>
                    <a:bodyPr/>
                    <a:lstStyle>
                      <a:lvl1pPr marL="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推荐用词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对应练习活动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0153">
                <a:tc rowSpan="4"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描述、绘制、简述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描述出基金定投的四大注意事项</a:t>
                      </a:r>
                      <a:endParaRPr lang="en-US" altLang="zh-CN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有奖竞赛、图画制作、情景分享、卡片游戏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0153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区分、识别、绘制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绘制汽车制造的工艺流程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概念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说出、陈述、写出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说出无领导小组讨论的定义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选择、判断、比较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选择与老虎型客户沟通的原则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rowSpan="3"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演示、使用、操作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演示出握手礼的标准动作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实操练习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人际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（对应情景）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运用异议处理技巧完成客户相关异议的处理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角色扮演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智慧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制作一份（解决）方案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运用各类激励方法制作一份员工激励方案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案例分析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态度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承认、接受、赞成、意识到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承认工作中要高度负责的价值观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案例分享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辩论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小品剧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3.1"/>
</p:tagLst>
</file>

<file path=ppt/tags/tag2.xml><?xml version="1.0" encoding="utf-8"?>
<p:tagLst xmlns:p="http://schemas.openxmlformats.org/presentationml/2006/main">
  <p:tag name="MH" val="20160302115757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60302115757"/>
  <p:tag name="MH_LIBRARY" val="GRAPHIC"/>
  <p:tag name="MH_TYPE" val="Other"/>
  <p:tag name="MH_ORDER" val="2"/>
</p:tagLst>
</file>

<file path=ppt/tags/tag4.xml><?xml version="1.0" encoding="utf-8"?>
<p:tagLst xmlns:p="http://schemas.openxmlformats.org/presentationml/2006/main">
  <p:tag name="MH" val="20160302115757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60302115757"/>
  <p:tag name="MH_LIBRARY" val="GRAPHIC"/>
  <p:tag name="MH_TYPE" val="Other"/>
  <p:tag name="MH_ORDER" val="4"/>
</p:tagLst>
</file>

<file path=ppt/tags/tag6.xml><?xml version="1.0" encoding="utf-8"?>
<p:tagLst xmlns:p="http://schemas.openxmlformats.org/presentationml/2006/main">
  <p:tag name="MH" val="20160302115757"/>
  <p:tag name="MH_LIBRARY" val="GRAPHIC"/>
  <p:tag name="MH_TYPE" val="Other"/>
  <p:tag name="MH_ORDER" val="5"/>
</p:tagLst>
</file>

<file path=ppt/tags/tag7.xml><?xml version="1.0" encoding="utf-8"?>
<p:tagLst xmlns:p="http://schemas.openxmlformats.org/presentationml/2006/main">
  <p:tag name="MH" val="20160302115757"/>
  <p:tag name="MH_LIBRARY" val="GRAPHIC"/>
  <p:tag name="MH_TYPE" val="Other"/>
  <p:tag name="MH_ORDER" val="6"/>
</p:tagLst>
</file>

<file path=ppt/tags/tag8.xml><?xml version="1.0" encoding="utf-8"?>
<p:tagLst xmlns:p="http://schemas.openxmlformats.org/presentationml/2006/main">
  <p:tag name="MH" val="20160302115757"/>
  <p:tag name="MH_LIBRARY" val="GRAPHIC"/>
  <p:tag name="MH_TYPE" val="Other"/>
  <p:tag name="MH_ORDER" val="7"/>
</p:tagLst>
</file>

<file path=ppt/tags/tag9.xml><?xml version="1.0" encoding="utf-8"?>
<p:tagLst xmlns:p="http://schemas.openxmlformats.org/presentationml/2006/main">
  <p:tag name="MH" val="20160302115757"/>
  <p:tag name="MH_LIBRARY" val="GRAPHIC"/>
  <p:tag name="MH_TYPE" val="Other"/>
  <p:tag name="MH_ORDER" val="8"/>
</p:tagLst>
</file>

<file path=ppt/tags/tag10.xml><?xml version="1.0" encoding="utf-8"?>
<p:tagLst xmlns:p="http://schemas.openxmlformats.org/presentationml/2006/main">
  <p:tag name="MH" val="20160302115757"/>
  <p:tag name="MH_LIBRARY" val="GRAPHIC"/>
  <p:tag name="MH_TYPE" val="Other"/>
  <p:tag name="MH_ORDER" val="9"/>
</p:tagLst>
</file>

<file path=ppt/tags/tag11.xml><?xml version="1.0" encoding="utf-8"?>
<p:tagLst xmlns:p="http://schemas.openxmlformats.org/presentationml/2006/main">
  <p:tag name="MH" val="20160302115757"/>
  <p:tag name="MH_LIBRARY" val="GRAPHIC"/>
  <p:tag name="MH_TYPE" val="Other"/>
  <p:tag name="MH_ORDER" val="10"/>
</p:tagLst>
</file>

<file path=ppt/tags/tag12.xml><?xml version="1.0" encoding="utf-8"?>
<p:tagLst xmlns:p="http://schemas.openxmlformats.org/presentationml/2006/main">
  <p:tag name="MH" val="20160302115757"/>
  <p:tag name="MH_LIBRARY" val="GRAPHIC"/>
  <p:tag name="MH_TYPE" val="Other"/>
  <p:tag name="MH_ORDER" val="11"/>
</p:tagLst>
</file>

<file path=ppt/tags/tag13.xml><?xml version="1.0" encoding="utf-8"?>
<p:tagLst xmlns:p="http://schemas.openxmlformats.org/presentationml/2006/main">
  <p:tag name="MH" val="20160302115757"/>
  <p:tag name="MH_LIBRARY" val="GRAPHIC"/>
  <p:tag name="MH_TYPE" val="Other"/>
  <p:tag name="MH_ORDER" val="12"/>
</p:tagLst>
</file>

<file path=ppt/tags/tag14.xml><?xml version="1.0" encoding="utf-8"?>
<p:tagLst xmlns:p="http://schemas.openxmlformats.org/presentationml/2006/main">
  <p:tag name="MH" val="20160302115757"/>
  <p:tag name="MH_LIBRARY" val="GRAPHIC"/>
  <p:tag name="MH_TYPE" val="Other"/>
  <p:tag name="MH_ORDER" val="13"/>
</p:tagLst>
</file>

<file path=ppt/tags/tag15.xml><?xml version="1.0" encoding="utf-8"?>
<p:tagLst xmlns:p="http://schemas.openxmlformats.org/presentationml/2006/main">
  <p:tag name="MH" val="20160302115757"/>
  <p:tag name="MH_LIBRARY" val="GRAPHIC"/>
  <p:tag name="MH_TYPE" val="Other"/>
  <p:tag name="MH_ORDER" val="14"/>
</p:tagLst>
</file>

<file path=ppt/tags/tag16.xml><?xml version="1.0" encoding="utf-8"?>
<p:tagLst xmlns:p="http://schemas.openxmlformats.org/presentationml/2006/main">
  <p:tag name="MH" val="20160302115757"/>
  <p:tag name="MH_LIBRARY" val="GRAPHIC"/>
  <p:tag name="MH_TYPE" val="Other"/>
  <p:tag name="MH_ORDER" val="15"/>
</p:tagLst>
</file>

<file path=ppt/tags/tag17.xml><?xml version="1.0" encoding="utf-8"?>
<p:tagLst xmlns:p="http://schemas.openxmlformats.org/presentationml/2006/main">
  <p:tag name="MH" val="20160302115757"/>
  <p:tag name="MH_LIBRARY" val="GRAPHIC"/>
  <p:tag name="MH_TYPE" val="Other"/>
  <p:tag name="MH_ORDER" val="16"/>
</p:tagLst>
</file>

<file path=ppt/tags/tag18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7"/>
</p:tagLst>
</file>

<file path=ppt/tags/tag19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5"/>
</p:tagLst>
</file>

<file path=ppt/tags/tag20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6"/>
</p:tagLst>
</file>

<file path=ppt/tags/tag21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8"/>
</p:tagLst>
</file>

<file path=ppt/tags/tag22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4"/>
</p:tagLst>
</file>

<file path=ppt/tags/tag23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1"/>
</p:tagLst>
</file>

<file path=ppt/tags/tag24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2"/>
</p:tagLst>
</file>

<file path=ppt/tags/tag25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3"/>
</p:tagLst>
</file>

<file path=ppt/tags/tag26.xml><?xml version="1.0" encoding="utf-8"?>
<p:tagLst xmlns:p="http://schemas.openxmlformats.org/presentationml/2006/main">
  <p:tag name="MH" val="20190709155754"/>
  <p:tag name="MH_LIBRARY" val="GRAPHIC"/>
</p:tagLst>
</file>

<file path=ppt/tags/tag27.xml><?xml version="1.0" encoding="utf-8"?>
<p:tagLst xmlns:p="http://schemas.openxmlformats.org/presentationml/2006/main">
  <p:tag name="ISLIDE.VECTOR" val="61a16fa4-1209-4f4f-8527-420194658f59"/>
</p:tagLst>
</file>

<file path=ppt/tags/tag28.xml><?xml version="1.0" encoding="utf-8"?>
<p:tagLst xmlns:p="http://schemas.openxmlformats.org/presentationml/2006/main">
  <p:tag name="ISLIDE.VECTOR" val="#188987;#184793;#184330;"/>
</p:tagLst>
</file>

<file path=ppt/tags/tag29.xml><?xml version="1.0" encoding="utf-8"?>
<p:tagLst xmlns:p="http://schemas.openxmlformats.org/presentationml/2006/main">
  <p:tag name="ISLIDE.VECTOR" val="909048c5-63a7-4236-bf69-4f8dbdcf903e"/>
</p:tagLst>
</file>

<file path=ppt/tags/tag30.xml><?xml version="1.0" encoding="utf-8"?>
<p:tagLst xmlns:p="http://schemas.openxmlformats.org/presentationml/2006/main">
  <p:tag name="ISLIDE.VECTOR" val="2508fa81-c519-466e-b789-47354ecb3237"/>
</p:tagLst>
</file>

<file path=ppt/tags/tag31.xml><?xml version="1.0" encoding="utf-8"?>
<p:tagLst xmlns:p="http://schemas.openxmlformats.org/presentationml/2006/main">
  <p:tag name="ISLIDE.VECTOR" val="edf3baa6-246d-4269-bbde-1c3d7f9eb218"/>
</p:tagLst>
</file>

<file path=ppt/tags/tag32.xml><?xml version="1.0" encoding="utf-8"?>
<p:tagLst xmlns:p="http://schemas.openxmlformats.org/presentationml/2006/main">
  <p:tag name="ISLIDE.VECTOR" val="40463e25-18d5-4e84-b439-af3b39b68af1"/>
</p:tagLst>
</file>

<file path=ppt/tags/tag33.xml><?xml version="1.0" encoding="utf-8"?>
<p:tagLst xmlns:p="http://schemas.openxmlformats.org/presentationml/2006/main">
  <p:tag name="ISLIDE.VECTOR" val="2ba576d4-227b-4c11-9f56-32fef1961acf"/>
</p:tagLst>
</file>

<file path=ppt/tags/tag34.xml><?xml version="1.0" encoding="utf-8"?>
<p:tagLst xmlns:p="http://schemas.openxmlformats.org/presentationml/2006/main">
  <p:tag name="MH" val="20161109213826"/>
  <p:tag name="MH_LIBRARY" val="GRAPHIC"/>
</p:tagLst>
</file>

<file path=ppt/tags/tag35.xml><?xml version="1.0" encoding="utf-8"?>
<p:tagLst xmlns:p="http://schemas.openxmlformats.org/presentationml/2006/main">
  <p:tag name="commondata" val="eyJoZGlkIjoiMzEwNTM5NzYwMDRjMzkwZTVkZjY2ODkwMGIxNGU0OTUifQ=="/>
  <p:tag name="resource_record_key" val="{&quot;13&quot;:[20482077]}"/>
</p:tagLst>
</file>

<file path=ppt/theme/theme1.xml><?xml version="1.0" encoding="utf-8"?>
<a:theme xmlns:a="http://schemas.openxmlformats.org/drawingml/2006/main" name="4_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1124</ns0:Words>
  <ns0:Application>WPS 演示</ns0:Application>
  <ns0:PresentationFormat>宽屏</ns0:PresentationFormat>
  <ns0:Paragraphs>294</ns0:Paragraphs>
  <ns0:Slides>14</ns0:Slides>
  <ns0:Notes>5</ns0:Notes>
  <ns0:HiddenSlides>0</ns0:HiddenSlides>
  <ns0:MMClips>0</ns0:MMClips>
  <ns0:ScaleCrop>false</ns0:ScaleCrop>
  <ns0:HeadingPairs>
    <ns1:vector baseType="variant" size="6">
      <ns1:variant>
        <ns1:lpstr>已用的字体</ns1:lpstr>
      </ns1:variant>
      <ns1:variant>
        <ns1:i4>13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15</ns1:i4>
      </ns1:variant>
    </ns1:vector>
  </ns0:HeadingPairs>
  <ns0:TitlesOfParts>
    <ns1:vector baseType="lpstr" size="29">
      <ns1:lpstr>Arial</ns1:lpstr>
      <ns1:lpstr>宋体</ns1:lpstr>
      <ns1:lpstr>Wingdings</ns1:lpstr>
      <ns1:lpstr>华文中宋</ns1:lpstr>
      <ns1:lpstr>微软雅黑</ns1:lpstr>
      <ns1:lpstr>黑体</ns1:lpstr>
      <ns1:lpstr>Calibri</ns1:lpstr>
      <ns1:lpstr>等线</ns1:lpstr>
      <ns1:lpstr>Arial</ns1:lpstr>
      <ns1:lpstr>Calibri</ns1:lpstr>
      <ns1:lpstr>Tahoma</ns1:lpstr>
      <ns1:lpstr>Arial Narrow</ns1:lpstr>
      <ns1:lpstr>Arial Unicode MS</ns1:lpstr>
      <ns1:lpstr>4_Office 主题​​</ns1:lpstr>
      <ns1:lpstr>PowerPoint 演示文稿</ns1:lpstr>
      <ns1:lpstr>个人介绍：猜猜看哪个信息是假的？</ns1:lpstr>
      <ns1:lpstr>猜一猜？</ns1:lpstr>
      <ns1:lpstr>我的成长历程</ns1:lpstr>
      <ns1:lpstr>洪海江</ns1:lpstr>
      <ns1:lpstr>重要模块勾</ns1:lpstr>
      <ns1:lpstr>PowerPoint 演示文稿</ns1:lpstr>
      <ns1:lpstr>学习目标：</ns1:lpstr>
      <ns1:lpstr>一、穿着风格看品位</ns1:lpstr>
      <ns1:lpstr>举例：汪总的巴宝莉</ns1:lpstr>
      <ns1:lpstr>小练习：（自行设计）</ns1:lpstr>
      <ns1:lpstr>重要模块结束学习转化</ns1:lpstr>
      <ns1:lpstr>口诀：</ns1:lpstr>
      <ns1:lpstr>PowerPoint 演示文稿</ns1:lpstr>
      <ns1:lpstr>学习目标动词简化表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搭把手路演版</dc:title>
  <dc:creator>Administrator</dc:creator>
  <ns0:lastModifiedBy>洪海江</ns0:lastModifiedBy>
  <ns0:revision>923</ns0:revision>
  <ns2:created xsi:type="dcterms:W3CDTF">2013-01-22T14:34:00Z</ns2:created>
  <ns2:modified xsi:type="dcterms:W3CDTF">2024-04-26T00:54:13Z</ns2:modified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FD4BD1C51C63425C837CC024FD004A9A_13</vt:lpwstr>
  </property>
  <property fmtid="{D5CDD505-2E9C-101B-9397-08002B2CF9AE}" pid="3" name="KSOProductBuildVer">
    <vt:lpwstr>2052-12.1.0.16729</vt:lpwstr>
  </property>
</Properties>
</file>